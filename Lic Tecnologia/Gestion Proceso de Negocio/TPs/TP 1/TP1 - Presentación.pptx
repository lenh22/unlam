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5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</p:sldIdLst>
  <p:sldSz cx="9144000" cy="5143500" type="screen16x9"/>
  <p:notesSz cx="6858000" cy="9144000"/>
  <p:embeddedFontLst>
    <p:embeddedFont>
      <p:font typeface="Roboto Condensed" panose="020F0502020204030204" pitchFamily="2" charset="0"/>
      <p:regular r:id="rId58"/>
      <p:bold r:id="rId59"/>
      <p:italic r:id="rId60"/>
      <p:boldItalic r:id="rId61"/>
    </p:embeddedFont>
    <p:embeddedFont>
      <p:font typeface="Roboto Condensed SemiBold" panose="020B0604020202020204" charset="0"/>
      <p:regular r:id="rId62"/>
      <p:bold r:id="rId63"/>
      <p:italic r:id="rId64"/>
      <p:boldItalic r:id="rId6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font" Target="fonts/font6.fntdata"/><Relationship Id="rId68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font" Target="fonts/font1.fntdata"/><Relationship Id="rId66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font" Target="fonts/font4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font" Target="fonts/font7.fntdata"/><Relationship Id="rId69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font" Target="fonts/font2.fntdata"/><Relationship Id="rId67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font" Target="fonts/font3.fntdata"/><Relationship Id="rId65" Type="http://schemas.openxmlformats.org/officeDocument/2006/relationships/font" Target="fonts/font8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2456b3f251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2456b3f251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2456b3f251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2456b3f251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2456b3f251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2456b3f251_0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2456b3f251_0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2456b3f251_0_2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2456b3f251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2456b3f251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2456b3f251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2456b3f251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2485614947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2485614947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245ee13db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245ee13db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245ee13db9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245ee13db9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245ee13db9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245ee13db9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245ee13db9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245ee13db9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245ee13db9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245ee13db9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245ee13db9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245ee13db9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245ee13db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245ee13db9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2485614947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2485614947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248561494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248561494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2485614947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2485614947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2485614947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2485614947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2485614947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2485614947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2485614947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22485614947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2485614947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22485614947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2485614947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2485614947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2485614947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22485614947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2485614947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22485614947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2485614947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22485614947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2485614947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22485614947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22485614947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22485614947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22485614947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22485614947_0_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2485614947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22485614947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22485614947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22485614947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22485614947_0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22485614947_0_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2485614947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22485614947_0_2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22485614947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22485614947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22485614947_0_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22485614947_0_2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22485614947_0_2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22485614947_0_2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22485614947_0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22485614947_0_2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22485614947_0_3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22485614947_0_3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22485614947_0_3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22485614947_0_3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2485614947_0_3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22485614947_0_3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22485614947_0_3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22485614947_0_3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22485614947_0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22485614947_0_3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22485614947_0_3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22485614947_0_3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22485614947_0_3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22485614947_0_3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22485614947_0_3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22485614947_0_3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22485614947_0_4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22485614947_0_4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22485614947_0_4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22485614947_0_4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22485614947_0_4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22485614947_0_4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22485614947_0_4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22485614947_0_4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22485614947_0_4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22485614947_0_4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22485614947_0_4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22485614947_0_4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22485614947_0_4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22485614947_0_4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22485614947_0_4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4" name="Google Shape;684;g22485614947_0_4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 rot="-5400000">
            <a:off x="-26325" y="882300"/>
            <a:ext cx="5150975" cy="3378875"/>
          </a:xfrm>
          <a:prstGeom prst="flowChartOffpageConnector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/>
          <p:nvPr/>
        </p:nvSpPr>
        <p:spPr>
          <a:xfrm rot="-5400000">
            <a:off x="-332825" y="882350"/>
            <a:ext cx="5150975" cy="3378875"/>
          </a:xfrm>
          <a:prstGeom prst="flowChartOffpageConnector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3"/>
          <p:cNvSpPr/>
          <p:nvPr/>
        </p:nvSpPr>
        <p:spPr>
          <a:xfrm rot="-5400000">
            <a:off x="-631850" y="882338"/>
            <a:ext cx="5150975" cy="3378875"/>
          </a:xfrm>
          <a:prstGeom prst="flowChartOffpageConnector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3"/>
          <p:cNvSpPr/>
          <p:nvPr/>
        </p:nvSpPr>
        <p:spPr>
          <a:xfrm rot="-5400000">
            <a:off x="-960800" y="882338"/>
            <a:ext cx="5150975" cy="3378875"/>
          </a:xfrm>
          <a:prstGeom prst="flowChartOffpageConnector">
            <a:avLst/>
          </a:prstGeom>
          <a:solidFill>
            <a:srgbClr val="FF6900"/>
          </a:solidFill>
          <a:ln w="9525" cap="flat" cmpd="sng">
            <a:solidFill>
              <a:srgbClr val="FF69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ctrTitle"/>
          </p:nvPr>
        </p:nvSpPr>
        <p:spPr>
          <a:xfrm>
            <a:off x="4523738" y="665350"/>
            <a:ext cx="4300800" cy="19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6200" b="1">
                <a:latin typeface="Roboto Condensed"/>
                <a:ea typeface="Roboto Condensed"/>
                <a:cs typeface="Roboto Condensed"/>
                <a:sym typeface="Roboto Condensed"/>
              </a:rPr>
              <a:t>Análisis de</a:t>
            </a:r>
            <a:br>
              <a:rPr lang="es-419" sz="6200" b="1"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s-419" sz="6200" b="1">
                <a:latin typeface="Roboto Condensed"/>
                <a:ea typeface="Roboto Condensed"/>
                <a:cs typeface="Roboto Condensed"/>
                <a:sym typeface="Roboto Condensed"/>
              </a:rPr>
              <a:t>contexto</a:t>
            </a:r>
            <a:endParaRPr sz="6200" b="1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59" name="Google Shape;5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484400" y="893425"/>
            <a:ext cx="5967524" cy="335672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60" name="Google Shape;60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4225" y="2159000"/>
            <a:ext cx="3979850" cy="248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914050" y="332975"/>
            <a:ext cx="4668300" cy="9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5220">
                <a:latin typeface="Roboto Condensed SemiBold"/>
                <a:ea typeface="Roboto Condensed SemiBold"/>
                <a:cs typeface="Roboto Condensed SemiBold"/>
                <a:sym typeface="Roboto Condensed SemiBold"/>
              </a:rPr>
              <a:t>Negocio</a:t>
            </a:r>
            <a:endParaRPr sz="5220">
              <a:latin typeface="Roboto Condensed SemiBold"/>
              <a:ea typeface="Roboto Condensed SemiBold"/>
              <a:cs typeface="Roboto Condensed SemiBold"/>
              <a:sym typeface="Roboto Condensed SemiBold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914050" y="1546400"/>
            <a:ext cx="7860300" cy="33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Empresa de tecnología global especializada en diseño y fabricación de dispositivos electrónicos.             Conocida por ofrecer productos precio-calidad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-1416400" y="-190500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4"/>
          <p:cNvSpPr/>
          <p:nvPr/>
        </p:nvSpPr>
        <p:spPr>
          <a:xfrm rot="1308651">
            <a:off x="8664425" y="14551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4"/>
          <p:cNvSpPr/>
          <p:nvPr/>
        </p:nvSpPr>
        <p:spPr>
          <a:xfrm rot="7913352">
            <a:off x="8215025" y="-2652575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>
            <a:off x="914050" y="332975"/>
            <a:ext cx="4668300" cy="9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5220">
                <a:latin typeface="Roboto Condensed SemiBold"/>
                <a:ea typeface="Roboto Condensed SemiBold"/>
                <a:cs typeface="Roboto Condensed SemiBold"/>
                <a:sym typeface="Roboto Condensed SemiBold"/>
              </a:rPr>
              <a:t>Entorno</a:t>
            </a:r>
            <a:endParaRPr sz="5220">
              <a:latin typeface="Roboto Condensed SemiBold"/>
              <a:ea typeface="Roboto Condensed SemiBold"/>
              <a:cs typeface="Roboto Condensed SemiBold"/>
              <a:sym typeface="Roboto Condensed SemiBold"/>
            </a:endParaRPr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914050" y="1546400"/>
            <a:ext cx="7860300" cy="33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Altamente competitivo y cambiante Competidores como Apple, Samsung, Huawei, entre otros.                           Xiaomi se destaca por innovación, calidad  y precios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7" name="Google Shape;77;p15"/>
          <p:cNvSpPr/>
          <p:nvPr/>
        </p:nvSpPr>
        <p:spPr>
          <a:xfrm rot="7913352">
            <a:off x="8227400" y="-261545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5"/>
          <p:cNvSpPr/>
          <p:nvPr/>
        </p:nvSpPr>
        <p:spPr>
          <a:xfrm rot="1308651">
            <a:off x="8664425" y="14551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5"/>
          <p:cNvSpPr/>
          <p:nvPr/>
        </p:nvSpPr>
        <p:spPr>
          <a:xfrm>
            <a:off x="-1175500" y="-156875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5"/>
          <p:cNvSpPr/>
          <p:nvPr/>
        </p:nvSpPr>
        <p:spPr>
          <a:xfrm>
            <a:off x="-1404075" y="-347375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914050" y="332975"/>
            <a:ext cx="4668300" cy="9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5220">
                <a:latin typeface="Roboto Condensed SemiBold"/>
                <a:ea typeface="Roboto Condensed SemiBold"/>
                <a:cs typeface="Roboto Condensed SemiBold"/>
                <a:sym typeface="Roboto Condensed SemiBold"/>
              </a:rPr>
              <a:t>Razón de ser</a:t>
            </a:r>
            <a:endParaRPr sz="5220">
              <a:latin typeface="Roboto Condensed SemiBold"/>
              <a:ea typeface="Roboto Condensed SemiBold"/>
              <a:cs typeface="Roboto Condensed SemiBold"/>
              <a:sym typeface="Roboto Condensed SemiBold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6"/>
          <p:cNvSpPr txBox="1">
            <a:spLocks noGrp="1"/>
          </p:cNvSpPr>
          <p:nvPr>
            <p:ph type="body" idx="1"/>
          </p:nvPr>
        </p:nvSpPr>
        <p:spPr>
          <a:xfrm>
            <a:off x="914050" y="1546400"/>
            <a:ext cx="7860300" cy="33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Xiaomi está centrada en el usuario.   Busca innovar constantemente y ofrecer una experiencia única al usuario.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8" name="Google Shape;88;p16"/>
          <p:cNvSpPr/>
          <p:nvPr/>
        </p:nvSpPr>
        <p:spPr>
          <a:xfrm rot="7913352">
            <a:off x="8227400" y="-261545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6"/>
          <p:cNvSpPr/>
          <p:nvPr/>
        </p:nvSpPr>
        <p:spPr>
          <a:xfrm rot="1308651">
            <a:off x="8664425" y="14551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6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-1416400" y="-190500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>
            <a:spLocks noGrp="1"/>
          </p:cNvSpPr>
          <p:nvPr>
            <p:ph type="title"/>
          </p:nvPr>
        </p:nvSpPr>
        <p:spPr>
          <a:xfrm>
            <a:off x="914050" y="332975"/>
            <a:ext cx="4668300" cy="9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5220">
                <a:latin typeface="Roboto Condensed SemiBold"/>
                <a:ea typeface="Roboto Condensed SemiBold"/>
                <a:cs typeface="Roboto Condensed SemiBold"/>
                <a:sym typeface="Roboto Condensed SemiBold"/>
              </a:rPr>
              <a:t>Objetivos</a:t>
            </a:r>
            <a:endParaRPr sz="5220">
              <a:latin typeface="Roboto Condensed SemiBold"/>
              <a:ea typeface="Roboto Condensed SemiBold"/>
              <a:cs typeface="Roboto Condensed SemiBold"/>
              <a:sym typeface="Roboto Condensed SemiBold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7"/>
          <p:cNvSpPr txBox="1">
            <a:spLocks noGrp="1"/>
          </p:cNvSpPr>
          <p:nvPr>
            <p:ph type="body" idx="1"/>
          </p:nvPr>
        </p:nvSpPr>
        <p:spPr>
          <a:xfrm>
            <a:off x="914050" y="1546400"/>
            <a:ext cx="7860300" cy="33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Condensed"/>
              <a:buChar char="●"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Líder en ventas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Condensed"/>
              <a:buChar char="●"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Líder en innovación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Condensed"/>
              <a:buChar char="●"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Ampliar y mantener una comunidad de usuarios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99" name="Google Shape;99;p17"/>
          <p:cNvSpPr/>
          <p:nvPr/>
        </p:nvSpPr>
        <p:spPr>
          <a:xfrm rot="7913352">
            <a:off x="8227400" y="-261545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7"/>
          <p:cNvSpPr/>
          <p:nvPr/>
        </p:nvSpPr>
        <p:spPr>
          <a:xfrm rot="1308651">
            <a:off x="8664425" y="14551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7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7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7"/>
          <p:cNvSpPr/>
          <p:nvPr/>
        </p:nvSpPr>
        <p:spPr>
          <a:xfrm>
            <a:off x="-1416400" y="-190500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>
            <a:spLocks noGrp="1"/>
          </p:cNvSpPr>
          <p:nvPr>
            <p:ph type="title"/>
          </p:nvPr>
        </p:nvSpPr>
        <p:spPr>
          <a:xfrm>
            <a:off x="2271550" y="526350"/>
            <a:ext cx="57939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200">
                <a:latin typeface="Roboto Condensed SemiBold"/>
                <a:ea typeface="Roboto Condensed SemiBold"/>
                <a:cs typeface="Roboto Condensed SemiBold"/>
                <a:sym typeface="Roboto Condensed SemiBold"/>
              </a:rPr>
              <a:t>Contextos externos de Xiaomi</a:t>
            </a:r>
            <a:endParaRPr sz="5200">
              <a:latin typeface="Roboto Condensed SemiBold"/>
              <a:ea typeface="Roboto Condensed SemiBold"/>
              <a:cs typeface="Roboto Condensed SemiBold"/>
              <a:sym typeface="Roboto Condensed SemiBold"/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-243450" y="-48225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8"/>
          <p:cNvSpPr/>
          <p:nvPr/>
        </p:nvSpPr>
        <p:spPr>
          <a:xfrm>
            <a:off x="-472025" y="-238725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8"/>
          <p:cNvSpPr/>
          <p:nvPr/>
        </p:nvSpPr>
        <p:spPr>
          <a:xfrm>
            <a:off x="-754825" y="-143475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8"/>
          <p:cNvSpPr/>
          <p:nvPr/>
        </p:nvSpPr>
        <p:spPr>
          <a:xfrm>
            <a:off x="-754825" y="-143475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8"/>
          <p:cNvSpPr/>
          <p:nvPr/>
        </p:nvSpPr>
        <p:spPr>
          <a:xfrm>
            <a:off x="-754825" y="-143475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8"/>
          <p:cNvSpPr/>
          <p:nvPr/>
        </p:nvSpPr>
        <p:spPr>
          <a:xfrm>
            <a:off x="-983400" y="-333975"/>
            <a:ext cx="1983450" cy="5647750"/>
          </a:xfrm>
          <a:prstGeom prst="flowChartInputOutput">
            <a:avLst/>
          </a:prstGeom>
          <a:solidFill>
            <a:srgbClr val="FF6900"/>
          </a:solidFill>
          <a:ln w="9525" cap="flat" cmpd="sng">
            <a:solidFill>
              <a:srgbClr val="FF69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/>
          <p:nvPr/>
        </p:nvSpPr>
        <p:spPr>
          <a:xfrm>
            <a:off x="-653550" y="-350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9"/>
          <p:cNvSpPr/>
          <p:nvPr/>
        </p:nvSpPr>
        <p:spPr>
          <a:xfrm>
            <a:off x="-882125" y="-22550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9"/>
          <p:cNvSpPr/>
          <p:nvPr/>
        </p:nvSpPr>
        <p:spPr>
          <a:xfrm>
            <a:off x="-1164925" y="-13025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9"/>
          <p:cNvSpPr/>
          <p:nvPr/>
        </p:nvSpPr>
        <p:spPr>
          <a:xfrm>
            <a:off x="-1164925" y="-13025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9"/>
          <p:cNvSpPr/>
          <p:nvPr/>
        </p:nvSpPr>
        <p:spPr>
          <a:xfrm>
            <a:off x="-1164925" y="-130250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9"/>
          <p:cNvSpPr/>
          <p:nvPr/>
        </p:nvSpPr>
        <p:spPr>
          <a:xfrm rot="10800000">
            <a:off x="7903925" y="-13025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9"/>
          <p:cNvSpPr/>
          <p:nvPr/>
        </p:nvSpPr>
        <p:spPr>
          <a:xfrm rot="-10800000">
            <a:off x="8132500" y="6025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9"/>
          <p:cNvSpPr/>
          <p:nvPr/>
        </p:nvSpPr>
        <p:spPr>
          <a:xfrm rot="10800000">
            <a:off x="8415300" y="-350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9"/>
          <p:cNvSpPr/>
          <p:nvPr/>
        </p:nvSpPr>
        <p:spPr>
          <a:xfrm rot="10800000">
            <a:off x="8415300" y="-350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9"/>
          <p:cNvSpPr/>
          <p:nvPr/>
        </p:nvSpPr>
        <p:spPr>
          <a:xfrm rot="10800000">
            <a:off x="8415300" y="-35000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9"/>
          <p:cNvSpPr txBox="1">
            <a:spLocks noGrp="1"/>
          </p:cNvSpPr>
          <p:nvPr>
            <p:ph type="body" idx="4294967295"/>
          </p:nvPr>
        </p:nvSpPr>
        <p:spPr>
          <a:xfrm>
            <a:off x="1455213" y="1246275"/>
            <a:ext cx="6094800" cy="27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 analizan factores externos a la organización que pueden llegar a influir en su desempeño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>
            <a:spLocks noGrp="1"/>
          </p:cNvSpPr>
          <p:nvPr>
            <p:ph type="title"/>
          </p:nvPr>
        </p:nvSpPr>
        <p:spPr>
          <a:xfrm>
            <a:off x="914050" y="332975"/>
            <a:ext cx="5619900" cy="9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5220">
                <a:latin typeface="Roboto Condensed SemiBold"/>
                <a:ea typeface="Roboto Condensed SemiBold"/>
                <a:cs typeface="Roboto Condensed SemiBold"/>
                <a:sym typeface="Roboto Condensed SemiBold"/>
              </a:rPr>
              <a:t>Contexto político</a:t>
            </a:r>
            <a:endParaRPr sz="5220">
              <a:latin typeface="Roboto Condensed SemiBold"/>
              <a:ea typeface="Roboto Condensed SemiBold"/>
              <a:cs typeface="Roboto Condensed SemiBold"/>
              <a:sym typeface="Roboto Condensed SemiBold"/>
            </a:endParaRPr>
          </a:p>
        </p:txBody>
      </p:sp>
      <p:sp>
        <p:nvSpPr>
          <p:cNvPr id="135" name="Google Shape;135;p20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20"/>
          <p:cNvSpPr txBox="1">
            <a:spLocks noGrp="1"/>
          </p:cNvSpPr>
          <p:nvPr>
            <p:ph type="body" idx="1"/>
          </p:nvPr>
        </p:nvSpPr>
        <p:spPr>
          <a:xfrm>
            <a:off x="914050" y="1546400"/>
            <a:ext cx="7860300" cy="33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Condensed"/>
              <a:buChar char="●"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Tensiones comerciales pueden afectar su operación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Condensed"/>
              <a:buChar char="●"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Nuevas regulaciones o modificaciones en países donde opera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37" name="Google Shape;137;p20"/>
          <p:cNvSpPr/>
          <p:nvPr/>
        </p:nvSpPr>
        <p:spPr>
          <a:xfrm rot="7913352">
            <a:off x="8227400" y="-261545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20"/>
          <p:cNvSpPr/>
          <p:nvPr/>
        </p:nvSpPr>
        <p:spPr>
          <a:xfrm rot="1308651">
            <a:off x="8664425" y="14551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0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20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20"/>
          <p:cNvSpPr/>
          <p:nvPr/>
        </p:nvSpPr>
        <p:spPr>
          <a:xfrm>
            <a:off x="-1416400" y="-190500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>
            <a:spLocks noGrp="1"/>
          </p:cNvSpPr>
          <p:nvPr>
            <p:ph type="title"/>
          </p:nvPr>
        </p:nvSpPr>
        <p:spPr>
          <a:xfrm>
            <a:off x="914050" y="332975"/>
            <a:ext cx="5619900" cy="9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5220">
                <a:latin typeface="Roboto Condensed SemiBold"/>
                <a:ea typeface="Roboto Condensed SemiBold"/>
                <a:cs typeface="Roboto Condensed SemiBold"/>
                <a:sym typeface="Roboto Condensed SemiBold"/>
              </a:rPr>
              <a:t>Contexto económico</a:t>
            </a:r>
            <a:endParaRPr sz="5220">
              <a:latin typeface="Roboto Condensed SemiBold"/>
              <a:ea typeface="Roboto Condensed SemiBold"/>
              <a:cs typeface="Roboto Condensed SemiBold"/>
              <a:sym typeface="Roboto Condensed SemiBold"/>
            </a:endParaRPr>
          </a:p>
        </p:txBody>
      </p:sp>
      <p:sp>
        <p:nvSpPr>
          <p:cNvPr id="147" name="Google Shape;147;p21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21"/>
          <p:cNvSpPr txBox="1">
            <a:spLocks noGrp="1"/>
          </p:cNvSpPr>
          <p:nvPr>
            <p:ph type="body" idx="1"/>
          </p:nvPr>
        </p:nvSpPr>
        <p:spPr>
          <a:xfrm>
            <a:off x="914050" y="1546400"/>
            <a:ext cx="7860300" cy="33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Condensed"/>
              <a:buChar char="●"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Es todo un desafío mantener precios competitivos y tener márgenes de ganancias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Condensed"/>
              <a:buChar char="●"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Los mercados emergentes pueden ser una oportunidad de crecimiento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49" name="Google Shape;149;p21"/>
          <p:cNvSpPr/>
          <p:nvPr/>
        </p:nvSpPr>
        <p:spPr>
          <a:xfrm rot="7913352">
            <a:off x="8227400" y="-261545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21"/>
          <p:cNvSpPr/>
          <p:nvPr/>
        </p:nvSpPr>
        <p:spPr>
          <a:xfrm rot="1308651">
            <a:off x="8664425" y="14551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1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1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21"/>
          <p:cNvSpPr/>
          <p:nvPr/>
        </p:nvSpPr>
        <p:spPr>
          <a:xfrm>
            <a:off x="-1416400" y="-190500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 txBox="1">
            <a:spLocks noGrp="1"/>
          </p:cNvSpPr>
          <p:nvPr>
            <p:ph type="title"/>
          </p:nvPr>
        </p:nvSpPr>
        <p:spPr>
          <a:xfrm>
            <a:off x="914050" y="332975"/>
            <a:ext cx="5619900" cy="9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5220">
                <a:latin typeface="Roboto Condensed SemiBold"/>
                <a:ea typeface="Roboto Condensed SemiBold"/>
                <a:cs typeface="Roboto Condensed SemiBold"/>
                <a:sym typeface="Roboto Condensed SemiBold"/>
              </a:rPr>
              <a:t>Contexto social</a:t>
            </a:r>
            <a:endParaRPr sz="5220">
              <a:latin typeface="Roboto Condensed SemiBold"/>
              <a:ea typeface="Roboto Condensed SemiBold"/>
              <a:cs typeface="Roboto Condensed SemiBold"/>
              <a:sym typeface="Roboto Condensed SemiBold"/>
            </a:endParaRPr>
          </a:p>
        </p:txBody>
      </p:sp>
      <p:sp>
        <p:nvSpPr>
          <p:cNvPr id="159" name="Google Shape;159;p22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2"/>
          <p:cNvSpPr txBox="1">
            <a:spLocks noGrp="1"/>
          </p:cNvSpPr>
          <p:nvPr>
            <p:ph type="body" idx="1"/>
          </p:nvPr>
        </p:nvSpPr>
        <p:spPr>
          <a:xfrm>
            <a:off x="914050" y="1546400"/>
            <a:ext cx="7860300" cy="33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Condensed"/>
              <a:buChar char="●"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Los consumidores buscan más dispositivos inteligentes y de IoT, mayores oportunidades de negocio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Condensed"/>
              <a:buChar char="●"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 valora la calidad e innovación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61" name="Google Shape;161;p22"/>
          <p:cNvSpPr/>
          <p:nvPr/>
        </p:nvSpPr>
        <p:spPr>
          <a:xfrm rot="7913352">
            <a:off x="8227400" y="-261545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22"/>
          <p:cNvSpPr/>
          <p:nvPr/>
        </p:nvSpPr>
        <p:spPr>
          <a:xfrm rot="1308651">
            <a:off x="8664425" y="14551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22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22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22"/>
          <p:cNvSpPr/>
          <p:nvPr/>
        </p:nvSpPr>
        <p:spPr>
          <a:xfrm>
            <a:off x="-1416400" y="-190500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3"/>
          <p:cNvSpPr txBox="1">
            <a:spLocks noGrp="1"/>
          </p:cNvSpPr>
          <p:nvPr>
            <p:ph type="title"/>
          </p:nvPr>
        </p:nvSpPr>
        <p:spPr>
          <a:xfrm>
            <a:off x="914050" y="332975"/>
            <a:ext cx="6053700" cy="9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5220">
                <a:latin typeface="Roboto Condensed SemiBold"/>
                <a:ea typeface="Roboto Condensed SemiBold"/>
                <a:cs typeface="Roboto Condensed SemiBold"/>
                <a:sym typeface="Roboto Condensed SemiBold"/>
              </a:rPr>
              <a:t>Contexto tecnológico</a:t>
            </a:r>
            <a:endParaRPr sz="5220">
              <a:latin typeface="Roboto Condensed SemiBold"/>
              <a:ea typeface="Roboto Condensed SemiBold"/>
              <a:cs typeface="Roboto Condensed SemiBold"/>
              <a:sym typeface="Roboto Condensed SemiBold"/>
            </a:endParaRPr>
          </a:p>
        </p:txBody>
      </p:sp>
      <p:sp>
        <p:nvSpPr>
          <p:cNvPr id="171" name="Google Shape;171;p23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23"/>
          <p:cNvSpPr txBox="1">
            <a:spLocks noGrp="1"/>
          </p:cNvSpPr>
          <p:nvPr>
            <p:ph type="body" idx="1"/>
          </p:nvPr>
        </p:nvSpPr>
        <p:spPr>
          <a:xfrm>
            <a:off x="914050" y="1546400"/>
            <a:ext cx="7860300" cy="33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Condensed"/>
              <a:buChar char="●"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Ritmo acelerado de innovación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Condensed"/>
              <a:buChar char="●"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Ciclos de vida más cortos en la tecnología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Condensed"/>
              <a:buChar char="●"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Demanda de productos con nuevas tecnologías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73" name="Google Shape;173;p23"/>
          <p:cNvSpPr/>
          <p:nvPr/>
        </p:nvSpPr>
        <p:spPr>
          <a:xfrm rot="7913352">
            <a:off x="8227400" y="-261545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23"/>
          <p:cNvSpPr/>
          <p:nvPr/>
        </p:nvSpPr>
        <p:spPr>
          <a:xfrm rot="1308651">
            <a:off x="8664425" y="14551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23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23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23"/>
          <p:cNvSpPr/>
          <p:nvPr/>
        </p:nvSpPr>
        <p:spPr>
          <a:xfrm>
            <a:off x="-1416400" y="-190500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4"/>
          <p:cNvSpPr txBox="1">
            <a:spLocks noGrp="1"/>
          </p:cNvSpPr>
          <p:nvPr>
            <p:ph type="title"/>
          </p:nvPr>
        </p:nvSpPr>
        <p:spPr>
          <a:xfrm>
            <a:off x="914050" y="332975"/>
            <a:ext cx="6053700" cy="9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5220">
                <a:latin typeface="Roboto Condensed SemiBold"/>
                <a:ea typeface="Roboto Condensed SemiBold"/>
                <a:cs typeface="Roboto Condensed SemiBold"/>
                <a:sym typeface="Roboto Condensed SemiBold"/>
              </a:rPr>
              <a:t>Contexto ambiental</a:t>
            </a:r>
            <a:endParaRPr sz="5220">
              <a:latin typeface="Roboto Condensed SemiBold"/>
              <a:ea typeface="Roboto Condensed SemiBold"/>
              <a:cs typeface="Roboto Condensed SemiBold"/>
              <a:sym typeface="Roboto Condensed SemiBold"/>
            </a:endParaRPr>
          </a:p>
        </p:txBody>
      </p:sp>
      <p:sp>
        <p:nvSpPr>
          <p:cNvPr id="183" name="Google Shape;183;p24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24"/>
          <p:cNvSpPr txBox="1">
            <a:spLocks noGrp="1"/>
          </p:cNvSpPr>
          <p:nvPr>
            <p:ph type="body" idx="1"/>
          </p:nvPr>
        </p:nvSpPr>
        <p:spPr>
          <a:xfrm>
            <a:off x="914050" y="1546400"/>
            <a:ext cx="7860300" cy="33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Condensed"/>
              <a:buChar char="●"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Empresas deben adoptar prácticas amigables con el ambiente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Condensed"/>
              <a:buChar char="●"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Normativas ambientales más rígidas en la fabricación, embalaje y distribución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85" name="Google Shape;185;p24"/>
          <p:cNvSpPr/>
          <p:nvPr/>
        </p:nvSpPr>
        <p:spPr>
          <a:xfrm rot="7913352">
            <a:off x="8227400" y="-261545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24"/>
          <p:cNvSpPr/>
          <p:nvPr/>
        </p:nvSpPr>
        <p:spPr>
          <a:xfrm rot="1308651">
            <a:off x="8664425" y="14551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24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24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24"/>
          <p:cNvSpPr/>
          <p:nvPr/>
        </p:nvSpPr>
        <p:spPr>
          <a:xfrm>
            <a:off x="-1416400" y="-190500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5"/>
          <p:cNvSpPr txBox="1">
            <a:spLocks noGrp="1"/>
          </p:cNvSpPr>
          <p:nvPr>
            <p:ph type="title"/>
          </p:nvPr>
        </p:nvSpPr>
        <p:spPr>
          <a:xfrm>
            <a:off x="914050" y="332975"/>
            <a:ext cx="6053700" cy="9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5220">
                <a:latin typeface="Roboto Condensed SemiBold"/>
                <a:ea typeface="Roboto Condensed SemiBold"/>
                <a:cs typeface="Roboto Condensed SemiBold"/>
                <a:sym typeface="Roboto Condensed SemiBold"/>
              </a:rPr>
              <a:t>Contexto legal</a:t>
            </a:r>
            <a:endParaRPr sz="5220">
              <a:latin typeface="Roboto Condensed SemiBold"/>
              <a:ea typeface="Roboto Condensed SemiBold"/>
              <a:cs typeface="Roboto Condensed SemiBold"/>
              <a:sym typeface="Roboto Condensed SemiBold"/>
            </a:endParaRPr>
          </a:p>
        </p:txBody>
      </p:sp>
      <p:sp>
        <p:nvSpPr>
          <p:cNvPr id="195" name="Google Shape;195;p25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25"/>
          <p:cNvSpPr txBox="1">
            <a:spLocks noGrp="1"/>
          </p:cNvSpPr>
          <p:nvPr>
            <p:ph type="body" idx="1"/>
          </p:nvPr>
        </p:nvSpPr>
        <p:spPr>
          <a:xfrm>
            <a:off x="914050" y="1546400"/>
            <a:ext cx="7860300" cy="33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Condensed"/>
              <a:buChar char="●"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Leyes de protección de datos y privacidad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Condensed"/>
              <a:buChar char="●"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Proteger innovaciones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Condensed"/>
              <a:buChar char="●"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Evitar infracciones de uso de patentes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Condensed"/>
              <a:buChar char="●"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Leyes y regulaciones de gobiernos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97" name="Google Shape;197;p25"/>
          <p:cNvSpPr/>
          <p:nvPr/>
        </p:nvSpPr>
        <p:spPr>
          <a:xfrm rot="7913352">
            <a:off x="8227400" y="-261545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25"/>
          <p:cNvSpPr/>
          <p:nvPr/>
        </p:nvSpPr>
        <p:spPr>
          <a:xfrm rot="1308651">
            <a:off x="8664425" y="14551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25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25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25"/>
          <p:cNvSpPr/>
          <p:nvPr/>
        </p:nvSpPr>
        <p:spPr>
          <a:xfrm>
            <a:off x="-1416400" y="-190500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"/>
          <p:cNvSpPr txBox="1">
            <a:spLocks noGrp="1"/>
          </p:cNvSpPr>
          <p:nvPr>
            <p:ph type="title"/>
          </p:nvPr>
        </p:nvSpPr>
        <p:spPr>
          <a:xfrm>
            <a:off x="2271550" y="526350"/>
            <a:ext cx="57939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200">
                <a:latin typeface="Roboto Condensed SemiBold"/>
                <a:ea typeface="Roboto Condensed SemiBold"/>
                <a:cs typeface="Roboto Condensed SemiBold"/>
                <a:sym typeface="Roboto Condensed SemiBold"/>
              </a:rPr>
              <a:t>Contextos internos de Xiaomi</a:t>
            </a:r>
            <a:endParaRPr sz="5200">
              <a:latin typeface="Roboto Condensed SemiBold"/>
              <a:ea typeface="Roboto Condensed SemiBold"/>
              <a:cs typeface="Roboto Condensed SemiBold"/>
              <a:sym typeface="Roboto Condensed SemiBold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-243450" y="-48225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6"/>
          <p:cNvSpPr/>
          <p:nvPr/>
        </p:nvSpPr>
        <p:spPr>
          <a:xfrm>
            <a:off x="-472025" y="-238725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26"/>
          <p:cNvSpPr/>
          <p:nvPr/>
        </p:nvSpPr>
        <p:spPr>
          <a:xfrm>
            <a:off x="-754825" y="-143475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26"/>
          <p:cNvSpPr/>
          <p:nvPr/>
        </p:nvSpPr>
        <p:spPr>
          <a:xfrm>
            <a:off x="-754825" y="-143475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26"/>
          <p:cNvSpPr/>
          <p:nvPr/>
        </p:nvSpPr>
        <p:spPr>
          <a:xfrm>
            <a:off x="-754825" y="-143475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26"/>
          <p:cNvSpPr/>
          <p:nvPr/>
        </p:nvSpPr>
        <p:spPr>
          <a:xfrm>
            <a:off x="-983400" y="-333975"/>
            <a:ext cx="1983450" cy="5647750"/>
          </a:xfrm>
          <a:prstGeom prst="flowChartInputOutput">
            <a:avLst/>
          </a:prstGeom>
          <a:solidFill>
            <a:srgbClr val="FF6900"/>
          </a:solidFill>
          <a:ln w="9525" cap="flat" cmpd="sng">
            <a:solidFill>
              <a:srgbClr val="FF69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7"/>
          <p:cNvSpPr/>
          <p:nvPr/>
        </p:nvSpPr>
        <p:spPr>
          <a:xfrm>
            <a:off x="-653550" y="-350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7"/>
          <p:cNvSpPr/>
          <p:nvPr/>
        </p:nvSpPr>
        <p:spPr>
          <a:xfrm>
            <a:off x="-882125" y="-22550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7"/>
          <p:cNvSpPr/>
          <p:nvPr/>
        </p:nvSpPr>
        <p:spPr>
          <a:xfrm>
            <a:off x="-1164925" y="-13025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27"/>
          <p:cNvSpPr/>
          <p:nvPr/>
        </p:nvSpPr>
        <p:spPr>
          <a:xfrm>
            <a:off x="-1164925" y="-13025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27"/>
          <p:cNvSpPr/>
          <p:nvPr/>
        </p:nvSpPr>
        <p:spPr>
          <a:xfrm>
            <a:off x="-1164925" y="-130250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27"/>
          <p:cNvSpPr/>
          <p:nvPr/>
        </p:nvSpPr>
        <p:spPr>
          <a:xfrm rot="10800000">
            <a:off x="7903925" y="-13025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27"/>
          <p:cNvSpPr/>
          <p:nvPr/>
        </p:nvSpPr>
        <p:spPr>
          <a:xfrm rot="-10800000">
            <a:off x="8132500" y="6025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27"/>
          <p:cNvSpPr/>
          <p:nvPr/>
        </p:nvSpPr>
        <p:spPr>
          <a:xfrm rot="10800000">
            <a:off x="8415300" y="-350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27"/>
          <p:cNvSpPr/>
          <p:nvPr/>
        </p:nvSpPr>
        <p:spPr>
          <a:xfrm rot="10800000">
            <a:off x="8415300" y="-350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27"/>
          <p:cNvSpPr/>
          <p:nvPr/>
        </p:nvSpPr>
        <p:spPr>
          <a:xfrm rot="10800000">
            <a:off x="8415300" y="-35000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27"/>
          <p:cNvSpPr txBox="1">
            <a:spLocks noGrp="1"/>
          </p:cNvSpPr>
          <p:nvPr>
            <p:ph type="body" idx="4294967295"/>
          </p:nvPr>
        </p:nvSpPr>
        <p:spPr>
          <a:xfrm>
            <a:off x="1455213" y="1246275"/>
            <a:ext cx="6094800" cy="27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 analiza a la organización de forma interna para evaluar los recursos, competencias y habilidades que posee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8"/>
          <p:cNvSpPr txBox="1">
            <a:spLocks noGrp="1"/>
          </p:cNvSpPr>
          <p:nvPr>
            <p:ph type="title"/>
          </p:nvPr>
        </p:nvSpPr>
        <p:spPr>
          <a:xfrm>
            <a:off x="914050" y="332975"/>
            <a:ext cx="6053700" cy="9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5220">
                <a:latin typeface="Roboto Condensed SemiBold"/>
                <a:ea typeface="Roboto Condensed SemiBold"/>
                <a:cs typeface="Roboto Condensed SemiBold"/>
                <a:sym typeface="Roboto Condensed SemiBold"/>
              </a:rPr>
              <a:t>Recursos Humanos</a:t>
            </a:r>
            <a:endParaRPr sz="5220">
              <a:latin typeface="Roboto Condensed SemiBold"/>
              <a:ea typeface="Roboto Condensed SemiBold"/>
              <a:cs typeface="Roboto Condensed SemiBold"/>
              <a:sym typeface="Roboto Condensed SemiBold"/>
            </a:endParaRPr>
          </a:p>
        </p:txBody>
      </p:sp>
      <p:sp>
        <p:nvSpPr>
          <p:cNvPr id="233" name="Google Shape;233;p28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28"/>
          <p:cNvSpPr txBox="1">
            <a:spLocks noGrp="1"/>
          </p:cNvSpPr>
          <p:nvPr>
            <p:ph type="body" idx="1"/>
          </p:nvPr>
        </p:nvSpPr>
        <p:spPr>
          <a:xfrm>
            <a:off x="914050" y="1546400"/>
            <a:ext cx="7860300" cy="33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Condensed"/>
              <a:buChar char="●"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Generó un equipo de desarrollo e innovación altamente capacitado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Condensed"/>
              <a:buChar char="●"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Fomenta la creatividad e innovación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Condensed"/>
              <a:buChar char="●"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La cultura está orientada a la innovación, colaboración y agilidad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35" name="Google Shape;235;p28"/>
          <p:cNvSpPr/>
          <p:nvPr/>
        </p:nvSpPr>
        <p:spPr>
          <a:xfrm rot="7913352">
            <a:off x="8227400" y="-261545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28"/>
          <p:cNvSpPr/>
          <p:nvPr/>
        </p:nvSpPr>
        <p:spPr>
          <a:xfrm rot="1308651">
            <a:off x="8664425" y="14551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28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28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28"/>
          <p:cNvSpPr/>
          <p:nvPr/>
        </p:nvSpPr>
        <p:spPr>
          <a:xfrm>
            <a:off x="-1416400" y="-190500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9"/>
          <p:cNvSpPr txBox="1">
            <a:spLocks noGrp="1"/>
          </p:cNvSpPr>
          <p:nvPr>
            <p:ph type="title"/>
          </p:nvPr>
        </p:nvSpPr>
        <p:spPr>
          <a:xfrm>
            <a:off x="914050" y="332975"/>
            <a:ext cx="7407000" cy="9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5220">
                <a:latin typeface="Roboto Condensed SemiBold"/>
                <a:ea typeface="Roboto Condensed SemiBold"/>
                <a:cs typeface="Roboto Condensed SemiBold"/>
                <a:sym typeface="Roboto Condensed SemiBold"/>
              </a:rPr>
              <a:t>Estructura Organizacional</a:t>
            </a:r>
            <a:endParaRPr sz="5220">
              <a:latin typeface="Roboto Condensed SemiBold"/>
              <a:ea typeface="Roboto Condensed SemiBold"/>
              <a:cs typeface="Roboto Condensed SemiBold"/>
              <a:sym typeface="Roboto Condensed SemiBold"/>
            </a:endParaRPr>
          </a:p>
        </p:txBody>
      </p:sp>
      <p:sp>
        <p:nvSpPr>
          <p:cNvPr id="245" name="Google Shape;245;p29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29"/>
          <p:cNvSpPr txBox="1">
            <a:spLocks noGrp="1"/>
          </p:cNvSpPr>
          <p:nvPr>
            <p:ph type="body" idx="1"/>
          </p:nvPr>
        </p:nvSpPr>
        <p:spPr>
          <a:xfrm>
            <a:off x="914050" y="1546400"/>
            <a:ext cx="7860300" cy="33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Condensed"/>
              <a:buChar char="●"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Ágil y eficiente para responder a las demandas y cambios en el mercado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Condensed"/>
              <a:buChar char="●"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Estructura plana para tomar decisiones rápida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Condensed"/>
              <a:buChar char="●"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Visión clara, centrada en innovación, calidad y accesibilidad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47" name="Google Shape;247;p29"/>
          <p:cNvSpPr/>
          <p:nvPr/>
        </p:nvSpPr>
        <p:spPr>
          <a:xfrm rot="7913352">
            <a:off x="8227400" y="-261545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29"/>
          <p:cNvSpPr/>
          <p:nvPr/>
        </p:nvSpPr>
        <p:spPr>
          <a:xfrm rot="1308651">
            <a:off x="8664425" y="14551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29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29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29"/>
          <p:cNvSpPr/>
          <p:nvPr/>
        </p:nvSpPr>
        <p:spPr>
          <a:xfrm>
            <a:off x="-1416400" y="-190500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>
            <a:spLocks noGrp="1"/>
          </p:cNvSpPr>
          <p:nvPr>
            <p:ph type="title"/>
          </p:nvPr>
        </p:nvSpPr>
        <p:spPr>
          <a:xfrm>
            <a:off x="914050" y="332975"/>
            <a:ext cx="7407000" cy="9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5220">
                <a:latin typeface="Roboto Condensed SemiBold"/>
                <a:ea typeface="Roboto Condensed SemiBold"/>
                <a:cs typeface="Roboto Condensed SemiBold"/>
                <a:sym typeface="Roboto Condensed SemiBold"/>
              </a:rPr>
              <a:t>Recursos Financieros</a:t>
            </a:r>
            <a:endParaRPr sz="5220">
              <a:latin typeface="Roboto Condensed SemiBold"/>
              <a:ea typeface="Roboto Condensed SemiBold"/>
              <a:cs typeface="Roboto Condensed SemiBold"/>
              <a:sym typeface="Roboto Condensed SemiBold"/>
            </a:endParaRPr>
          </a:p>
        </p:txBody>
      </p:sp>
      <p:sp>
        <p:nvSpPr>
          <p:cNvPr id="257" name="Google Shape;257;p30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30"/>
          <p:cNvSpPr txBox="1">
            <a:spLocks noGrp="1"/>
          </p:cNvSpPr>
          <p:nvPr>
            <p:ph type="body" idx="1"/>
          </p:nvPr>
        </p:nvSpPr>
        <p:spPr>
          <a:xfrm>
            <a:off x="914050" y="1546400"/>
            <a:ext cx="7860300" cy="33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Condensed"/>
              <a:buChar char="●"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Posee una base sólida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Condensed"/>
              <a:buChar char="●"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Tiene ingresos diversificados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Condensed"/>
              <a:buChar char="●"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Eficiencia en gestión de costos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59" name="Google Shape;259;p30"/>
          <p:cNvSpPr/>
          <p:nvPr/>
        </p:nvSpPr>
        <p:spPr>
          <a:xfrm rot="7913352">
            <a:off x="8227400" y="-261545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30"/>
          <p:cNvSpPr/>
          <p:nvPr/>
        </p:nvSpPr>
        <p:spPr>
          <a:xfrm rot="1308651">
            <a:off x="8664425" y="14551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30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30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30"/>
          <p:cNvSpPr/>
          <p:nvPr/>
        </p:nvSpPr>
        <p:spPr>
          <a:xfrm>
            <a:off x="-1416400" y="-190500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1"/>
          <p:cNvSpPr txBox="1">
            <a:spLocks noGrp="1"/>
          </p:cNvSpPr>
          <p:nvPr>
            <p:ph type="title"/>
          </p:nvPr>
        </p:nvSpPr>
        <p:spPr>
          <a:xfrm>
            <a:off x="914050" y="332975"/>
            <a:ext cx="7407000" cy="9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5220">
                <a:latin typeface="Roboto Condensed SemiBold"/>
                <a:ea typeface="Roboto Condensed SemiBold"/>
                <a:cs typeface="Roboto Condensed SemiBold"/>
                <a:sym typeface="Roboto Condensed SemiBold"/>
              </a:rPr>
              <a:t>Capacidades tecnológicas</a:t>
            </a:r>
            <a:endParaRPr sz="5220">
              <a:latin typeface="Roboto Condensed SemiBold"/>
              <a:ea typeface="Roboto Condensed SemiBold"/>
              <a:cs typeface="Roboto Condensed SemiBold"/>
              <a:sym typeface="Roboto Condensed SemiBold"/>
            </a:endParaRPr>
          </a:p>
        </p:txBody>
      </p:sp>
      <p:sp>
        <p:nvSpPr>
          <p:cNvPr id="269" name="Google Shape;269;p31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31"/>
          <p:cNvSpPr txBox="1">
            <a:spLocks noGrp="1"/>
          </p:cNvSpPr>
          <p:nvPr>
            <p:ph type="body" idx="1"/>
          </p:nvPr>
        </p:nvSpPr>
        <p:spPr>
          <a:xfrm>
            <a:off x="914050" y="1546400"/>
            <a:ext cx="7860300" cy="33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Condensed"/>
              <a:buChar char="●"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Invierte en investigación, se mantiene a la vanguardia en tecnología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Condensed"/>
              <a:buChar char="●"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Capacidad de lanzar productos innovadores de forma rápida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Condensed"/>
              <a:buChar char="●"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Ecosistema de productos conectados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71" name="Google Shape;271;p31"/>
          <p:cNvSpPr/>
          <p:nvPr/>
        </p:nvSpPr>
        <p:spPr>
          <a:xfrm rot="7913352">
            <a:off x="8227400" y="-261545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31"/>
          <p:cNvSpPr/>
          <p:nvPr/>
        </p:nvSpPr>
        <p:spPr>
          <a:xfrm rot="1308651">
            <a:off x="8664425" y="14551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31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31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31"/>
          <p:cNvSpPr/>
          <p:nvPr/>
        </p:nvSpPr>
        <p:spPr>
          <a:xfrm>
            <a:off x="-1416400" y="-190500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2"/>
          <p:cNvSpPr txBox="1">
            <a:spLocks noGrp="1"/>
          </p:cNvSpPr>
          <p:nvPr>
            <p:ph type="title"/>
          </p:nvPr>
        </p:nvSpPr>
        <p:spPr>
          <a:xfrm>
            <a:off x="914050" y="332975"/>
            <a:ext cx="7407000" cy="9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5220">
                <a:latin typeface="Roboto Condensed SemiBold"/>
                <a:ea typeface="Roboto Condensed SemiBold"/>
                <a:cs typeface="Roboto Condensed SemiBold"/>
                <a:sym typeface="Roboto Condensed SemiBold"/>
              </a:rPr>
              <a:t>Innovación de Productos</a:t>
            </a:r>
            <a:endParaRPr sz="5220">
              <a:latin typeface="Roboto Condensed SemiBold"/>
              <a:ea typeface="Roboto Condensed SemiBold"/>
              <a:cs typeface="Roboto Condensed SemiBold"/>
              <a:sym typeface="Roboto Condensed SemiBold"/>
            </a:endParaRPr>
          </a:p>
        </p:txBody>
      </p:sp>
      <p:sp>
        <p:nvSpPr>
          <p:cNvPr id="281" name="Google Shape;281;p32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32"/>
          <p:cNvSpPr txBox="1">
            <a:spLocks noGrp="1"/>
          </p:cNvSpPr>
          <p:nvPr>
            <p:ph type="body" idx="1"/>
          </p:nvPr>
        </p:nvSpPr>
        <p:spPr>
          <a:xfrm>
            <a:off x="914050" y="1546400"/>
            <a:ext cx="7860300" cy="33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Condensed"/>
              <a:buChar char="●"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Diversificación de portafolio de productos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Condensed"/>
              <a:buChar char="●"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Reducción de dependencia de un solo segmento de mercado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83" name="Google Shape;283;p32"/>
          <p:cNvSpPr/>
          <p:nvPr/>
        </p:nvSpPr>
        <p:spPr>
          <a:xfrm rot="7913352">
            <a:off x="8227400" y="-261545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32"/>
          <p:cNvSpPr/>
          <p:nvPr/>
        </p:nvSpPr>
        <p:spPr>
          <a:xfrm rot="1308651">
            <a:off x="8664425" y="14551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32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32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32"/>
          <p:cNvSpPr/>
          <p:nvPr/>
        </p:nvSpPr>
        <p:spPr>
          <a:xfrm>
            <a:off x="-1416400" y="-190500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3"/>
          <p:cNvSpPr txBox="1">
            <a:spLocks noGrp="1"/>
          </p:cNvSpPr>
          <p:nvPr>
            <p:ph type="title"/>
          </p:nvPr>
        </p:nvSpPr>
        <p:spPr>
          <a:xfrm>
            <a:off x="914050" y="332975"/>
            <a:ext cx="7724700" cy="9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5220">
                <a:latin typeface="Roboto Condensed SemiBold"/>
                <a:ea typeface="Roboto Condensed SemiBold"/>
                <a:cs typeface="Roboto Condensed SemiBold"/>
                <a:sym typeface="Roboto Condensed SemiBold"/>
              </a:rPr>
              <a:t>Relaciones con proveedores y socios</a:t>
            </a:r>
            <a:endParaRPr sz="5220">
              <a:latin typeface="Roboto Condensed SemiBold"/>
              <a:ea typeface="Roboto Condensed SemiBold"/>
              <a:cs typeface="Roboto Condensed SemiBold"/>
              <a:sym typeface="Roboto Condensed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5220">
              <a:latin typeface="Roboto Condensed SemiBold"/>
              <a:ea typeface="Roboto Condensed SemiBold"/>
              <a:cs typeface="Roboto Condensed SemiBold"/>
              <a:sym typeface="Roboto Condensed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5220">
              <a:latin typeface="Roboto Condensed SemiBold"/>
              <a:ea typeface="Roboto Condensed SemiBold"/>
              <a:cs typeface="Roboto Condensed SemiBold"/>
              <a:sym typeface="Roboto Condensed SemiBold"/>
            </a:endParaRPr>
          </a:p>
        </p:txBody>
      </p:sp>
      <p:sp>
        <p:nvSpPr>
          <p:cNvPr id="293" name="Google Shape;293;p33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33"/>
          <p:cNvSpPr txBox="1">
            <a:spLocks noGrp="1"/>
          </p:cNvSpPr>
          <p:nvPr>
            <p:ph type="body" idx="1"/>
          </p:nvPr>
        </p:nvSpPr>
        <p:spPr>
          <a:xfrm>
            <a:off x="914050" y="2156350"/>
            <a:ext cx="7860300" cy="27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Condensed"/>
              <a:buChar char="●"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Cadena de suministros bien gestionada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boto Condensed"/>
              <a:buChar char="●"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Trabaja estrechamente con sus proveedores, garantizando calidad a precios competitivos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95" name="Google Shape;295;p33"/>
          <p:cNvSpPr/>
          <p:nvPr/>
        </p:nvSpPr>
        <p:spPr>
          <a:xfrm rot="7913352">
            <a:off x="8227400" y="-261545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33"/>
          <p:cNvSpPr/>
          <p:nvPr/>
        </p:nvSpPr>
        <p:spPr>
          <a:xfrm rot="1308651">
            <a:off x="8664425" y="14551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33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33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33"/>
          <p:cNvSpPr/>
          <p:nvPr/>
        </p:nvSpPr>
        <p:spPr>
          <a:xfrm>
            <a:off x="-1416400" y="-190500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4"/>
          <p:cNvSpPr txBox="1">
            <a:spLocks noGrp="1"/>
          </p:cNvSpPr>
          <p:nvPr>
            <p:ph type="title"/>
          </p:nvPr>
        </p:nvSpPr>
        <p:spPr>
          <a:xfrm>
            <a:off x="2271550" y="526350"/>
            <a:ext cx="57939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200">
                <a:latin typeface="Roboto Condensed SemiBold"/>
                <a:ea typeface="Roboto Condensed SemiBold"/>
                <a:cs typeface="Roboto Condensed SemiBold"/>
                <a:sym typeface="Roboto Condensed SemiBold"/>
              </a:rPr>
              <a:t>Análisis FODA</a:t>
            </a:r>
            <a:endParaRPr sz="5200">
              <a:latin typeface="Roboto Condensed SemiBold"/>
              <a:ea typeface="Roboto Condensed SemiBold"/>
              <a:cs typeface="Roboto Condensed SemiBold"/>
              <a:sym typeface="Roboto Condensed SemiBold"/>
            </a:endParaRPr>
          </a:p>
        </p:txBody>
      </p:sp>
      <p:sp>
        <p:nvSpPr>
          <p:cNvPr id="305" name="Google Shape;305;p34"/>
          <p:cNvSpPr/>
          <p:nvPr/>
        </p:nvSpPr>
        <p:spPr>
          <a:xfrm>
            <a:off x="-243450" y="-48225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34"/>
          <p:cNvSpPr/>
          <p:nvPr/>
        </p:nvSpPr>
        <p:spPr>
          <a:xfrm>
            <a:off x="-472025" y="-238725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34"/>
          <p:cNvSpPr/>
          <p:nvPr/>
        </p:nvSpPr>
        <p:spPr>
          <a:xfrm>
            <a:off x="-754825" y="-143475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34"/>
          <p:cNvSpPr/>
          <p:nvPr/>
        </p:nvSpPr>
        <p:spPr>
          <a:xfrm>
            <a:off x="-754825" y="-143475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34"/>
          <p:cNvSpPr/>
          <p:nvPr/>
        </p:nvSpPr>
        <p:spPr>
          <a:xfrm>
            <a:off x="-754825" y="-143475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34"/>
          <p:cNvSpPr/>
          <p:nvPr/>
        </p:nvSpPr>
        <p:spPr>
          <a:xfrm>
            <a:off x="-983400" y="-333975"/>
            <a:ext cx="1983450" cy="5647750"/>
          </a:xfrm>
          <a:prstGeom prst="flowChartInputOutput">
            <a:avLst/>
          </a:prstGeom>
          <a:solidFill>
            <a:srgbClr val="FF6900"/>
          </a:solidFill>
          <a:ln w="9525" cap="flat" cmpd="sng">
            <a:solidFill>
              <a:srgbClr val="FF69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5"/>
          <p:cNvSpPr/>
          <p:nvPr/>
        </p:nvSpPr>
        <p:spPr>
          <a:xfrm>
            <a:off x="-653550" y="-350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35"/>
          <p:cNvSpPr/>
          <p:nvPr/>
        </p:nvSpPr>
        <p:spPr>
          <a:xfrm>
            <a:off x="-882125" y="-22550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35"/>
          <p:cNvSpPr/>
          <p:nvPr/>
        </p:nvSpPr>
        <p:spPr>
          <a:xfrm>
            <a:off x="-1164925" y="-13025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35"/>
          <p:cNvSpPr/>
          <p:nvPr/>
        </p:nvSpPr>
        <p:spPr>
          <a:xfrm>
            <a:off x="-1164925" y="-13025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35"/>
          <p:cNvSpPr/>
          <p:nvPr/>
        </p:nvSpPr>
        <p:spPr>
          <a:xfrm>
            <a:off x="-1164925" y="-130250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35"/>
          <p:cNvSpPr/>
          <p:nvPr/>
        </p:nvSpPr>
        <p:spPr>
          <a:xfrm rot="10800000">
            <a:off x="7903925" y="-13025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35"/>
          <p:cNvSpPr/>
          <p:nvPr/>
        </p:nvSpPr>
        <p:spPr>
          <a:xfrm rot="-10800000">
            <a:off x="8132500" y="6025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35"/>
          <p:cNvSpPr/>
          <p:nvPr/>
        </p:nvSpPr>
        <p:spPr>
          <a:xfrm rot="10800000">
            <a:off x="8415300" y="-350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35"/>
          <p:cNvSpPr/>
          <p:nvPr/>
        </p:nvSpPr>
        <p:spPr>
          <a:xfrm rot="10800000">
            <a:off x="8415300" y="-350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35"/>
          <p:cNvSpPr/>
          <p:nvPr/>
        </p:nvSpPr>
        <p:spPr>
          <a:xfrm rot="10800000">
            <a:off x="8415300" y="-35000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35"/>
          <p:cNvSpPr txBox="1"/>
          <p:nvPr/>
        </p:nvSpPr>
        <p:spPr>
          <a:xfrm>
            <a:off x="1528325" y="2104275"/>
            <a:ext cx="7342200" cy="9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220">
                <a:solidFill>
                  <a:schemeClr val="dk1"/>
                </a:solidFill>
                <a:latin typeface="Roboto Condensed SemiBold"/>
                <a:ea typeface="Roboto Condensed SemiBold"/>
                <a:cs typeface="Roboto Condensed SemiBold"/>
                <a:sym typeface="Roboto Condensed SemiBold"/>
              </a:rPr>
              <a:t>Fortalezas</a:t>
            </a:r>
            <a:endParaRPr sz="5220">
              <a:solidFill>
                <a:schemeClr val="dk1"/>
              </a:solidFill>
              <a:latin typeface="Roboto Condensed SemiBold"/>
              <a:ea typeface="Roboto Condensed SemiBold"/>
              <a:cs typeface="Roboto Condensed SemiBold"/>
              <a:sym typeface="Roboto Condensed SemiBol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6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36"/>
          <p:cNvSpPr/>
          <p:nvPr/>
        </p:nvSpPr>
        <p:spPr>
          <a:xfrm rot="7913352">
            <a:off x="8227400" y="-261545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36"/>
          <p:cNvSpPr/>
          <p:nvPr/>
        </p:nvSpPr>
        <p:spPr>
          <a:xfrm rot="1308651">
            <a:off x="8664425" y="14551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36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36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36"/>
          <p:cNvSpPr/>
          <p:nvPr/>
        </p:nvSpPr>
        <p:spPr>
          <a:xfrm>
            <a:off x="-1416400" y="-190500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36"/>
          <p:cNvSpPr txBox="1">
            <a:spLocks noGrp="1"/>
          </p:cNvSpPr>
          <p:nvPr>
            <p:ph type="body" idx="1"/>
          </p:nvPr>
        </p:nvSpPr>
        <p:spPr>
          <a:xfrm>
            <a:off x="1291675" y="1762700"/>
            <a:ext cx="6094800" cy="27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Ofrece dispositivos con características premium a precios competitivos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37" name="Google Shape;337;p36"/>
          <p:cNvSpPr txBox="1"/>
          <p:nvPr/>
        </p:nvSpPr>
        <p:spPr>
          <a:xfrm>
            <a:off x="1291675" y="676600"/>
            <a:ext cx="7342200" cy="9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220">
                <a:solidFill>
                  <a:schemeClr val="dk1"/>
                </a:solidFill>
                <a:latin typeface="Roboto Condensed SemiBold"/>
                <a:ea typeface="Roboto Condensed SemiBold"/>
                <a:cs typeface="Roboto Condensed SemiBold"/>
                <a:sym typeface="Roboto Condensed SemiBold"/>
              </a:rPr>
              <a:t>Precio calidad</a:t>
            </a:r>
            <a:endParaRPr sz="5220">
              <a:solidFill>
                <a:schemeClr val="dk1"/>
              </a:solidFill>
              <a:latin typeface="Roboto Condensed SemiBold"/>
              <a:ea typeface="Roboto Condensed SemiBold"/>
              <a:cs typeface="Roboto Condensed SemiBold"/>
              <a:sym typeface="Roboto Condensed SemiBol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7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37"/>
          <p:cNvSpPr/>
          <p:nvPr/>
        </p:nvSpPr>
        <p:spPr>
          <a:xfrm rot="7913352">
            <a:off x="8227400" y="-261545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37"/>
          <p:cNvSpPr/>
          <p:nvPr/>
        </p:nvSpPr>
        <p:spPr>
          <a:xfrm rot="1308651">
            <a:off x="8664425" y="14551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37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37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37"/>
          <p:cNvSpPr/>
          <p:nvPr/>
        </p:nvSpPr>
        <p:spPr>
          <a:xfrm>
            <a:off x="-1416400" y="-190500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37"/>
          <p:cNvSpPr txBox="1">
            <a:spLocks noGrp="1"/>
          </p:cNvSpPr>
          <p:nvPr>
            <p:ph type="body" idx="1"/>
          </p:nvPr>
        </p:nvSpPr>
        <p:spPr>
          <a:xfrm>
            <a:off x="1291675" y="1762700"/>
            <a:ext cx="6094800" cy="27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Xiaomi tiene un ecosistema propio, incluye desde smartphones hasta electrodomésticos y dispositivos Iot.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49" name="Google Shape;349;p37"/>
          <p:cNvSpPr txBox="1"/>
          <p:nvPr/>
        </p:nvSpPr>
        <p:spPr>
          <a:xfrm>
            <a:off x="1291675" y="676600"/>
            <a:ext cx="7342200" cy="9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220">
                <a:solidFill>
                  <a:schemeClr val="dk1"/>
                </a:solidFill>
                <a:latin typeface="Roboto Condensed SemiBold"/>
                <a:ea typeface="Roboto Condensed SemiBold"/>
                <a:cs typeface="Roboto Condensed SemiBold"/>
                <a:sym typeface="Roboto Condensed SemiBold"/>
              </a:rPr>
              <a:t>Ecosistema diversificado</a:t>
            </a:r>
            <a:endParaRPr sz="5220">
              <a:solidFill>
                <a:schemeClr val="dk1"/>
              </a:solidFill>
              <a:latin typeface="Roboto Condensed SemiBold"/>
              <a:ea typeface="Roboto Condensed SemiBold"/>
              <a:cs typeface="Roboto Condensed SemiBold"/>
              <a:sym typeface="Roboto Condensed SemiBol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8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38"/>
          <p:cNvSpPr/>
          <p:nvPr/>
        </p:nvSpPr>
        <p:spPr>
          <a:xfrm rot="7913352">
            <a:off x="8227400" y="-261545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38"/>
          <p:cNvSpPr/>
          <p:nvPr/>
        </p:nvSpPr>
        <p:spPr>
          <a:xfrm rot="1308651">
            <a:off x="8664425" y="14551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38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38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38"/>
          <p:cNvSpPr/>
          <p:nvPr/>
        </p:nvSpPr>
        <p:spPr>
          <a:xfrm>
            <a:off x="-1416400" y="-190500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38"/>
          <p:cNvSpPr txBox="1">
            <a:spLocks noGrp="1"/>
          </p:cNvSpPr>
          <p:nvPr>
            <p:ph type="body" idx="1"/>
          </p:nvPr>
        </p:nvSpPr>
        <p:spPr>
          <a:xfrm>
            <a:off x="1291675" y="1762700"/>
            <a:ext cx="6094800" cy="27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 expandió rápidamente en mercados internacionales, diversificó sus fuentes de ingresos y redujo su dependencia de un mercado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61" name="Google Shape;361;p38"/>
          <p:cNvSpPr txBox="1"/>
          <p:nvPr/>
        </p:nvSpPr>
        <p:spPr>
          <a:xfrm>
            <a:off x="1291675" y="676600"/>
            <a:ext cx="7342200" cy="9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220">
                <a:solidFill>
                  <a:schemeClr val="dk1"/>
                </a:solidFill>
                <a:latin typeface="Roboto Condensed SemiBold"/>
                <a:ea typeface="Roboto Condensed SemiBold"/>
                <a:cs typeface="Roboto Condensed SemiBold"/>
                <a:sym typeface="Roboto Condensed SemiBold"/>
              </a:rPr>
              <a:t>Presencial global</a:t>
            </a:r>
            <a:endParaRPr sz="5220">
              <a:solidFill>
                <a:schemeClr val="dk1"/>
              </a:solidFill>
              <a:latin typeface="Roboto Condensed SemiBold"/>
              <a:ea typeface="Roboto Condensed SemiBold"/>
              <a:cs typeface="Roboto Condensed SemiBold"/>
              <a:sym typeface="Roboto Condensed SemiBol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9"/>
          <p:cNvSpPr/>
          <p:nvPr/>
        </p:nvSpPr>
        <p:spPr>
          <a:xfrm>
            <a:off x="-653550" y="-350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39"/>
          <p:cNvSpPr/>
          <p:nvPr/>
        </p:nvSpPr>
        <p:spPr>
          <a:xfrm>
            <a:off x="-882125" y="-22550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39"/>
          <p:cNvSpPr/>
          <p:nvPr/>
        </p:nvSpPr>
        <p:spPr>
          <a:xfrm>
            <a:off x="-1164925" y="-13025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39"/>
          <p:cNvSpPr/>
          <p:nvPr/>
        </p:nvSpPr>
        <p:spPr>
          <a:xfrm>
            <a:off x="-1164925" y="-13025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39"/>
          <p:cNvSpPr/>
          <p:nvPr/>
        </p:nvSpPr>
        <p:spPr>
          <a:xfrm>
            <a:off x="-1164925" y="-130250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39"/>
          <p:cNvSpPr/>
          <p:nvPr/>
        </p:nvSpPr>
        <p:spPr>
          <a:xfrm rot="10800000">
            <a:off x="7903925" y="-13025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39"/>
          <p:cNvSpPr/>
          <p:nvPr/>
        </p:nvSpPr>
        <p:spPr>
          <a:xfrm rot="-10800000">
            <a:off x="8132500" y="6025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39"/>
          <p:cNvSpPr/>
          <p:nvPr/>
        </p:nvSpPr>
        <p:spPr>
          <a:xfrm rot="10800000">
            <a:off x="8415300" y="-350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39"/>
          <p:cNvSpPr/>
          <p:nvPr/>
        </p:nvSpPr>
        <p:spPr>
          <a:xfrm rot="10800000">
            <a:off x="8415300" y="-350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39"/>
          <p:cNvSpPr/>
          <p:nvPr/>
        </p:nvSpPr>
        <p:spPr>
          <a:xfrm rot="10800000">
            <a:off x="8415300" y="-35000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39"/>
          <p:cNvSpPr txBox="1"/>
          <p:nvPr/>
        </p:nvSpPr>
        <p:spPr>
          <a:xfrm>
            <a:off x="1528325" y="2104275"/>
            <a:ext cx="7342200" cy="9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220">
                <a:solidFill>
                  <a:schemeClr val="dk1"/>
                </a:solidFill>
                <a:latin typeface="Roboto Condensed SemiBold"/>
                <a:ea typeface="Roboto Condensed SemiBold"/>
                <a:cs typeface="Roboto Condensed SemiBold"/>
                <a:sym typeface="Roboto Condensed SemiBold"/>
              </a:rPr>
              <a:t>Oportunidades</a:t>
            </a:r>
            <a:endParaRPr sz="5220">
              <a:solidFill>
                <a:schemeClr val="dk1"/>
              </a:solidFill>
              <a:latin typeface="Roboto Condensed SemiBold"/>
              <a:ea typeface="Roboto Condensed SemiBold"/>
              <a:cs typeface="Roboto Condensed SemiBold"/>
              <a:sym typeface="Roboto Condensed SemiBol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0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40"/>
          <p:cNvSpPr/>
          <p:nvPr/>
        </p:nvSpPr>
        <p:spPr>
          <a:xfrm rot="7913352">
            <a:off x="8227400" y="-261545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40"/>
          <p:cNvSpPr/>
          <p:nvPr/>
        </p:nvSpPr>
        <p:spPr>
          <a:xfrm rot="1308651">
            <a:off x="8664425" y="14551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40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40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40"/>
          <p:cNvSpPr/>
          <p:nvPr/>
        </p:nvSpPr>
        <p:spPr>
          <a:xfrm>
            <a:off x="-1416400" y="-190500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40"/>
          <p:cNvSpPr txBox="1">
            <a:spLocks noGrp="1"/>
          </p:cNvSpPr>
          <p:nvPr>
            <p:ph type="body" idx="1"/>
          </p:nvPr>
        </p:nvSpPr>
        <p:spPr>
          <a:xfrm>
            <a:off x="1357825" y="2044875"/>
            <a:ext cx="6094800" cy="27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Demanda de dispositivos asequibles en mercados emergentes, genera una oportunidad de expansión para Xiaomi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88" name="Google Shape;388;p40"/>
          <p:cNvSpPr txBox="1"/>
          <p:nvPr/>
        </p:nvSpPr>
        <p:spPr>
          <a:xfrm>
            <a:off x="1291675" y="253275"/>
            <a:ext cx="7342200" cy="17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220">
                <a:solidFill>
                  <a:schemeClr val="dk1"/>
                </a:solidFill>
                <a:latin typeface="Roboto Condensed SemiBold"/>
                <a:ea typeface="Roboto Condensed SemiBold"/>
                <a:cs typeface="Roboto Condensed SemiBold"/>
                <a:sym typeface="Roboto Condensed SemiBold"/>
              </a:rPr>
              <a:t>Crecimiento en mercados emergentes</a:t>
            </a:r>
            <a:endParaRPr sz="5220">
              <a:solidFill>
                <a:schemeClr val="dk1"/>
              </a:solidFill>
              <a:latin typeface="Roboto Condensed SemiBold"/>
              <a:ea typeface="Roboto Condensed SemiBold"/>
              <a:cs typeface="Roboto Condensed SemiBold"/>
              <a:sym typeface="Roboto Condensed SemiBol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1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41"/>
          <p:cNvSpPr/>
          <p:nvPr/>
        </p:nvSpPr>
        <p:spPr>
          <a:xfrm rot="7913352">
            <a:off x="8227400" y="-261545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41"/>
          <p:cNvSpPr/>
          <p:nvPr/>
        </p:nvSpPr>
        <p:spPr>
          <a:xfrm rot="1308651">
            <a:off x="8664425" y="14551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41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41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41"/>
          <p:cNvSpPr/>
          <p:nvPr/>
        </p:nvSpPr>
        <p:spPr>
          <a:xfrm>
            <a:off x="-1416400" y="-190500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41"/>
          <p:cNvSpPr txBox="1">
            <a:spLocks noGrp="1"/>
          </p:cNvSpPr>
          <p:nvPr>
            <p:ph type="body" idx="1"/>
          </p:nvPr>
        </p:nvSpPr>
        <p:spPr>
          <a:xfrm>
            <a:off x="1357825" y="2044875"/>
            <a:ext cx="6094800" cy="27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Al aumentar el interés en estas tecnologías, Xiaomi puede aprovechar su ecosistema para aumentar la cuota de mercado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00" name="Google Shape;400;p41"/>
          <p:cNvSpPr txBox="1"/>
          <p:nvPr/>
        </p:nvSpPr>
        <p:spPr>
          <a:xfrm>
            <a:off x="1291675" y="253275"/>
            <a:ext cx="7342200" cy="17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220">
                <a:solidFill>
                  <a:schemeClr val="dk1"/>
                </a:solidFill>
                <a:latin typeface="Roboto Condensed SemiBold"/>
                <a:ea typeface="Roboto Condensed SemiBold"/>
                <a:cs typeface="Roboto Condensed SemiBold"/>
                <a:sym typeface="Roboto Condensed SemiBold"/>
              </a:rPr>
              <a:t>Aumento interés IoT y Hogares Inteligentes</a:t>
            </a:r>
            <a:endParaRPr sz="5220">
              <a:solidFill>
                <a:schemeClr val="dk1"/>
              </a:solidFill>
              <a:latin typeface="Roboto Condensed SemiBold"/>
              <a:ea typeface="Roboto Condensed SemiBold"/>
              <a:cs typeface="Roboto Condensed SemiBold"/>
              <a:sym typeface="Roboto Condensed SemiBol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2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42"/>
          <p:cNvSpPr/>
          <p:nvPr/>
        </p:nvSpPr>
        <p:spPr>
          <a:xfrm rot="7913352">
            <a:off x="8227400" y="-261545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42"/>
          <p:cNvSpPr/>
          <p:nvPr/>
        </p:nvSpPr>
        <p:spPr>
          <a:xfrm rot="1308651">
            <a:off x="8664425" y="14551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42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42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42"/>
          <p:cNvSpPr/>
          <p:nvPr/>
        </p:nvSpPr>
        <p:spPr>
          <a:xfrm>
            <a:off x="-1416400" y="-190500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42"/>
          <p:cNvSpPr txBox="1">
            <a:spLocks noGrp="1"/>
          </p:cNvSpPr>
          <p:nvPr>
            <p:ph type="body" idx="1"/>
          </p:nvPr>
        </p:nvSpPr>
        <p:spPr>
          <a:xfrm>
            <a:off x="1357825" y="2044875"/>
            <a:ext cx="6094800" cy="27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Abre nuevas oportunidades de lanzamientos de dispositivos compatibles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12" name="Google Shape;412;p42"/>
          <p:cNvSpPr txBox="1"/>
          <p:nvPr/>
        </p:nvSpPr>
        <p:spPr>
          <a:xfrm>
            <a:off x="1291675" y="385575"/>
            <a:ext cx="7342200" cy="9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220">
                <a:solidFill>
                  <a:schemeClr val="dk1"/>
                </a:solidFill>
                <a:latin typeface="Roboto Condensed SemiBold"/>
                <a:ea typeface="Roboto Condensed SemiBold"/>
                <a:cs typeface="Roboto Condensed SemiBold"/>
                <a:sym typeface="Roboto Condensed SemiBold"/>
              </a:rPr>
              <a:t>Desarrollo 5G</a:t>
            </a:r>
            <a:endParaRPr sz="5220">
              <a:solidFill>
                <a:schemeClr val="dk1"/>
              </a:solidFill>
              <a:latin typeface="Roboto Condensed SemiBold"/>
              <a:ea typeface="Roboto Condensed SemiBold"/>
              <a:cs typeface="Roboto Condensed SemiBold"/>
              <a:sym typeface="Roboto Condensed SemiBol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3"/>
          <p:cNvSpPr/>
          <p:nvPr/>
        </p:nvSpPr>
        <p:spPr>
          <a:xfrm>
            <a:off x="-653550" y="-350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43"/>
          <p:cNvSpPr/>
          <p:nvPr/>
        </p:nvSpPr>
        <p:spPr>
          <a:xfrm>
            <a:off x="-882125" y="-22550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43"/>
          <p:cNvSpPr/>
          <p:nvPr/>
        </p:nvSpPr>
        <p:spPr>
          <a:xfrm>
            <a:off x="-1164925" y="-13025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43"/>
          <p:cNvSpPr/>
          <p:nvPr/>
        </p:nvSpPr>
        <p:spPr>
          <a:xfrm>
            <a:off x="-1164925" y="-13025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43"/>
          <p:cNvSpPr/>
          <p:nvPr/>
        </p:nvSpPr>
        <p:spPr>
          <a:xfrm>
            <a:off x="-1164925" y="-130250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43"/>
          <p:cNvSpPr/>
          <p:nvPr/>
        </p:nvSpPr>
        <p:spPr>
          <a:xfrm rot="10800000">
            <a:off x="7903925" y="-13025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43"/>
          <p:cNvSpPr/>
          <p:nvPr/>
        </p:nvSpPr>
        <p:spPr>
          <a:xfrm rot="-10800000">
            <a:off x="8132500" y="6025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43"/>
          <p:cNvSpPr/>
          <p:nvPr/>
        </p:nvSpPr>
        <p:spPr>
          <a:xfrm rot="10800000">
            <a:off x="8415300" y="-350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43"/>
          <p:cNvSpPr/>
          <p:nvPr/>
        </p:nvSpPr>
        <p:spPr>
          <a:xfrm rot="10800000">
            <a:off x="8415300" y="-350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43"/>
          <p:cNvSpPr/>
          <p:nvPr/>
        </p:nvSpPr>
        <p:spPr>
          <a:xfrm rot="10800000">
            <a:off x="8415300" y="-35000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43"/>
          <p:cNvSpPr txBox="1"/>
          <p:nvPr/>
        </p:nvSpPr>
        <p:spPr>
          <a:xfrm>
            <a:off x="1528325" y="2104275"/>
            <a:ext cx="7342200" cy="9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220">
                <a:solidFill>
                  <a:schemeClr val="dk1"/>
                </a:solidFill>
                <a:latin typeface="Roboto Condensed SemiBold"/>
                <a:ea typeface="Roboto Condensed SemiBold"/>
                <a:cs typeface="Roboto Condensed SemiBold"/>
                <a:sym typeface="Roboto Condensed SemiBold"/>
              </a:rPr>
              <a:t>Debilidades</a:t>
            </a:r>
            <a:endParaRPr sz="5220">
              <a:solidFill>
                <a:schemeClr val="dk1"/>
              </a:solidFill>
              <a:latin typeface="Roboto Condensed SemiBold"/>
              <a:ea typeface="Roboto Condensed SemiBold"/>
              <a:cs typeface="Roboto Condensed SemiBold"/>
              <a:sym typeface="Roboto Condensed SemiBol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4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44"/>
          <p:cNvSpPr/>
          <p:nvPr/>
        </p:nvSpPr>
        <p:spPr>
          <a:xfrm rot="7913352">
            <a:off x="8227400" y="-261545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44"/>
          <p:cNvSpPr/>
          <p:nvPr/>
        </p:nvSpPr>
        <p:spPr>
          <a:xfrm rot="1308651">
            <a:off x="8664425" y="14551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44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44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44"/>
          <p:cNvSpPr/>
          <p:nvPr/>
        </p:nvSpPr>
        <p:spPr>
          <a:xfrm>
            <a:off x="-1416400" y="-190500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44"/>
          <p:cNvSpPr txBox="1">
            <a:spLocks noGrp="1"/>
          </p:cNvSpPr>
          <p:nvPr>
            <p:ph type="body" idx="1"/>
          </p:nvPr>
        </p:nvSpPr>
        <p:spPr>
          <a:xfrm>
            <a:off x="1357825" y="2044875"/>
            <a:ext cx="6094800" cy="27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Depende de fabricantes externos para su producción, puede generar riesgos de calidad o retrasos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39" name="Google Shape;439;p44"/>
          <p:cNvSpPr txBox="1"/>
          <p:nvPr/>
        </p:nvSpPr>
        <p:spPr>
          <a:xfrm>
            <a:off x="1291675" y="385575"/>
            <a:ext cx="7342200" cy="9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220">
                <a:solidFill>
                  <a:schemeClr val="dk1"/>
                </a:solidFill>
                <a:latin typeface="Roboto Condensed SemiBold"/>
                <a:ea typeface="Roboto Condensed SemiBold"/>
                <a:cs typeface="Roboto Condensed SemiBold"/>
                <a:sym typeface="Roboto Condensed SemiBold"/>
              </a:rPr>
              <a:t>Dependencia de terceros</a:t>
            </a:r>
            <a:endParaRPr sz="5220">
              <a:solidFill>
                <a:schemeClr val="dk1"/>
              </a:solidFill>
              <a:latin typeface="Roboto Condensed SemiBold"/>
              <a:ea typeface="Roboto Condensed SemiBold"/>
              <a:cs typeface="Roboto Condensed SemiBold"/>
              <a:sym typeface="Roboto Condensed SemiBol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5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45"/>
          <p:cNvSpPr/>
          <p:nvPr/>
        </p:nvSpPr>
        <p:spPr>
          <a:xfrm rot="7913352">
            <a:off x="8227400" y="-261545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45"/>
          <p:cNvSpPr/>
          <p:nvPr/>
        </p:nvSpPr>
        <p:spPr>
          <a:xfrm rot="1308651">
            <a:off x="8664425" y="14551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45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45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45"/>
          <p:cNvSpPr/>
          <p:nvPr/>
        </p:nvSpPr>
        <p:spPr>
          <a:xfrm>
            <a:off x="-1416400" y="-190500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45"/>
          <p:cNvSpPr txBox="1">
            <a:spLocks noGrp="1"/>
          </p:cNvSpPr>
          <p:nvPr>
            <p:ph type="body" idx="1"/>
          </p:nvPr>
        </p:nvSpPr>
        <p:spPr>
          <a:xfrm>
            <a:off x="1357825" y="2044875"/>
            <a:ext cx="6094800" cy="27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 algunos mercados puede ser percibida como marca de bajo costo, puede limitar su atractivo en segmentos premium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51" name="Google Shape;451;p45"/>
          <p:cNvSpPr txBox="1"/>
          <p:nvPr/>
        </p:nvSpPr>
        <p:spPr>
          <a:xfrm>
            <a:off x="1291675" y="385575"/>
            <a:ext cx="7342200" cy="9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220">
                <a:solidFill>
                  <a:schemeClr val="dk1"/>
                </a:solidFill>
                <a:latin typeface="Roboto Condensed SemiBold"/>
                <a:ea typeface="Roboto Condensed SemiBold"/>
                <a:cs typeface="Roboto Condensed SemiBold"/>
                <a:sym typeface="Roboto Condensed SemiBold"/>
              </a:rPr>
              <a:t>Percepción de marca</a:t>
            </a:r>
            <a:endParaRPr sz="5220">
              <a:solidFill>
                <a:schemeClr val="dk1"/>
              </a:solidFill>
              <a:latin typeface="Roboto Condensed SemiBold"/>
              <a:ea typeface="Roboto Condensed SemiBold"/>
              <a:cs typeface="Roboto Condensed SemiBold"/>
              <a:sym typeface="Roboto Condensed SemiBol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6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46"/>
          <p:cNvSpPr/>
          <p:nvPr/>
        </p:nvSpPr>
        <p:spPr>
          <a:xfrm rot="7913352">
            <a:off x="8227400" y="-261545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46"/>
          <p:cNvSpPr/>
          <p:nvPr/>
        </p:nvSpPr>
        <p:spPr>
          <a:xfrm rot="1308651">
            <a:off x="8664425" y="14551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46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46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46"/>
          <p:cNvSpPr/>
          <p:nvPr/>
        </p:nvSpPr>
        <p:spPr>
          <a:xfrm>
            <a:off x="-1416400" y="-190500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46"/>
          <p:cNvSpPr txBox="1">
            <a:spLocks noGrp="1"/>
          </p:cNvSpPr>
          <p:nvPr>
            <p:ph type="body" idx="1"/>
          </p:nvPr>
        </p:nvSpPr>
        <p:spPr>
          <a:xfrm>
            <a:off x="1357825" y="2044875"/>
            <a:ext cx="6094800" cy="27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La estrategia de precios agresivos puede significar márgenes de ganancia más bajos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63" name="Google Shape;463;p46"/>
          <p:cNvSpPr txBox="1"/>
          <p:nvPr/>
        </p:nvSpPr>
        <p:spPr>
          <a:xfrm>
            <a:off x="1291675" y="385575"/>
            <a:ext cx="7342200" cy="9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220">
                <a:solidFill>
                  <a:schemeClr val="dk1"/>
                </a:solidFill>
                <a:latin typeface="Roboto Condensed SemiBold"/>
                <a:ea typeface="Roboto Condensed SemiBold"/>
                <a:cs typeface="Roboto Condensed SemiBold"/>
                <a:sym typeface="Roboto Condensed SemiBold"/>
              </a:rPr>
              <a:t>Margen de ganancia bajo</a:t>
            </a:r>
            <a:endParaRPr sz="5220">
              <a:solidFill>
                <a:schemeClr val="dk1"/>
              </a:solidFill>
              <a:latin typeface="Roboto Condensed SemiBold"/>
              <a:ea typeface="Roboto Condensed SemiBold"/>
              <a:cs typeface="Roboto Condensed SemiBold"/>
              <a:sym typeface="Roboto Condensed SemiBold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7"/>
          <p:cNvSpPr/>
          <p:nvPr/>
        </p:nvSpPr>
        <p:spPr>
          <a:xfrm>
            <a:off x="-653550" y="-350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47"/>
          <p:cNvSpPr/>
          <p:nvPr/>
        </p:nvSpPr>
        <p:spPr>
          <a:xfrm>
            <a:off x="-882125" y="-22550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47"/>
          <p:cNvSpPr/>
          <p:nvPr/>
        </p:nvSpPr>
        <p:spPr>
          <a:xfrm>
            <a:off x="-1164925" y="-13025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47"/>
          <p:cNvSpPr/>
          <p:nvPr/>
        </p:nvSpPr>
        <p:spPr>
          <a:xfrm>
            <a:off x="-1164925" y="-13025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47"/>
          <p:cNvSpPr/>
          <p:nvPr/>
        </p:nvSpPr>
        <p:spPr>
          <a:xfrm>
            <a:off x="-1164925" y="-130250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47"/>
          <p:cNvSpPr/>
          <p:nvPr/>
        </p:nvSpPr>
        <p:spPr>
          <a:xfrm rot="10800000">
            <a:off x="7903925" y="-13025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47"/>
          <p:cNvSpPr/>
          <p:nvPr/>
        </p:nvSpPr>
        <p:spPr>
          <a:xfrm rot="-10800000">
            <a:off x="8132500" y="6025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47"/>
          <p:cNvSpPr/>
          <p:nvPr/>
        </p:nvSpPr>
        <p:spPr>
          <a:xfrm rot="10800000">
            <a:off x="8415300" y="-350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47"/>
          <p:cNvSpPr/>
          <p:nvPr/>
        </p:nvSpPr>
        <p:spPr>
          <a:xfrm rot="10800000">
            <a:off x="8415300" y="-350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47"/>
          <p:cNvSpPr/>
          <p:nvPr/>
        </p:nvSpPr>
        <p:spPr>
          <a:xfrm rot="10800000">
            <a:off x="8415300" y="-35000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47"/>
          <p:cNvSpPr txBox="1"/>
          <p:nvPr/>
        </p:nvSpPr>
        <p:spPr>
          <a:xfrm>
            <a:off x="1528325" y="2104275"/>
            <a:ext cx="7342200" cy="9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220">
                <a:solidFill>
                  <a:schemeClr val="dk1"/>
                </a:solidFill>
                <a:latin typeface="Roboto Condensed SemiBold"/>
                <a:ea typeface="Roboto Condensed SemiBold"/>
                <a:cs typeface="Roboto Condensed SemiBold"/>
                <a:sym typeface="Roboto Condensed SemiBold"/>
              </a:rPr>
              <a:t>Amenazas</a:t>
            </a:r>
            <a:endParaRPr sz="5220">
              <a:solidFill>
                <a:schemeClr val="dk1"/>
              </a:solidFill>
              <a:latin typeface="Roboto Condensed SemiBold"/>
              <a:ea typeface="Roboto Condensed SemiBold"/>
              <a:cs typeface="Roboto Condensed SemiBold"/>
              <a:sym typeface="Roboto Condensed SemiBol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8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48"/>
          <p:cNvSpPr/>
          <p:nvPr/>
        </p:nvSpPr>
        <p:spPr>
          <a:xfrm rot="7913352">
            <a:off x="8227400" y="-261545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48"/>
          <p:cNvSpPr/>
          <p:nvPr/>
        </p:nvSpPr>
        <p:spPr>
          <a:xfrm rot="1308651">
            <a:off x="8664425" y="14551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48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48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48"/>
          <p:cNvSpPr/>
          <p:nvPr/>
        </p:nvSpPr>
        <p:spPr>
          <a:xfrm>
            <a:off x="-1416400" y="-190500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48"/>
          <p:cNvSpPr txBox="1">
            <a:spLocks noGrp="1"/>
          </p:cNvSpPr>
          <p:nvPr>
            <p:ph type="body" idx="1"/>
          </p:nvPr>
        </p:nvSpPr>
        <p:spPr>
          <a:xfrm>
            <a:off x="1357825" y="2044875"/>
            <a:ext cx="6094800" cy="27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Restricciones comerciales en mercados como China pueden afectar sus operaciones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90" name="Google Shape;490;p48"/>
          <p:cNvSpPr txBox="1"/>
          <p:nvPr/>
        </p:nvSpPr>
        <p:spPr>
          <a:xfrm>
            <a:off x="1291675" y="385575"/>
            <a:ext cx="7342200" cy="9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220">
                <a:solidFill>
                  <a:schemeClr val="dk1"/>
                </a:solidFill>
                <a:latin typeface="Roboto Condensed SemiBold"/>
                <a:ea typeface="Roboto Condensed SemiBold"/>
                <a:cs typeface="Roboto Condensed SemiBold"/>
                <a:sym typeface="Roboto Condensed SemiBold"/>
              </a:rPr>
              <a:t>Cambios regulatorios</a:t>
            </a:r>
            <a:endParaRPr sz="5220">
              <a:solidFill>
                <a:schemeClr val="dk1"/>
              </a:solidFill>
              <a:latin typeface="Roboto Condensed SemiBold"/>
              <a:ea typeface="Roboto Condensed SemiBold"/>
              <a:cs typeface="Roboto Condensed SemiBold"/>
              <a:sym typeface="Roboto Condensed SemiBold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9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49"/>
          <p:cNvSpPr/>
          <p:nvPr/>
        </p:nvSpPr>
        <p:spPr>
          <a:xfrm rot="7913352">
            <a:off x="8227400" y="-261545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49"/>
          <p:cNvSpPr/>
          <p:nvPr/>
        </p:nvSpPr>
        <p:spPr>
          <a:xfrm rot="1308651">
            <a:off x="8664425" y="14551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49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49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49"/>
          <p:cNvSpPr/>
          <p:nvPr/>
        </p:nvSpPr>
        <p:spPr>
          <a:xfrm>
            <a:off x="-1416400" y="-190500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49"/>
          <p:cNvSpPr txBox="1">
            <a:spLocks noGrp="1"/>
          </p:cNvSpPr>
          <p:nvPr>
            <p:ph type="body" idx="1"/>
          </p:nvPr>
        </p:nvSpPr>
        <p:spPr>
          <a:xfrm>
            <a:off x="1357825" y="2044875"/>
            <a:ext cx="6094800" cy="27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Fuerte competencia de otras marcas tecnológicas en los distintos segmentos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02" name="Google Shape;502;p49"/>
          <p:cNvSpPr txBox="1"/>
          <p:nvPr/>
        </p:nvSpPr>
        <p:spPr>
          <a:xfrm>
            <a:off x="1291675" y="385575"/>
            <a:ext cx="7342200" cy="9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220">
                <a:solidFill>
                  <a:schemeClr val="dk1"/>
                </a:solidFill>
                <a:latin typeface="Roboto Condensed SemiBold"/>
                <a:ea typeface="Roboto Condensed SemiBold"/>
                <a:cs typeface="Roboto Condensed SemiBold"/>
                <a:sym typeface="Roboto Condensed SemiBold"/>
              </a:rPr>
              <a:t>Competencia intensa</a:t>
            </a:r>
            <a:endParaRPr sz="5220">
              <a:solidFill>
                <a:schemeClr val="dk1"/>
              </a:solidFill>
              <a:latin typeface="Roboto Condensed SemiBold"/>
              <a:ea typeface="Roboto Condensed SemiBold"/>
              <a:cs typeface="Roboto Condensed SemiBold"/>
              <a:sym typeface="Roboto Condensed SemiBol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0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50"/>
          <p:cNvSpPr/>
          <p:nvPr/>
        </p:nvSpPr>
        <p:spPr>
          <a:xfrm rot="7913352">
            <a:off x="8227400" y="-261545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50"/>
          <p:cNvSpPr/>
          <p:nvPr/>
        </p:nvSpPr>
        <p:spPr>
          <a:xfrm rot="1308651">
            <a:off x="8664425" y="14551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50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50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50"/>
          <p:cNvSpPr/>
          <p:nvPr/>
        </p:nvSpPr>
        <p:spPr>
          <a:xfrm>
            <a:off x="-1416400" y="-190500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50"/>
          <p:cNvSpPr txBox="1">
            <a:spLocks noGrp="1"/>
          </p:cNvSpPr>
          <p:nvPr>
            <p:ph type="body" idx="1"/>
          </p:nvPr>
        </p:nvSpPr>
        <p:spPr>
          <a:xfrm>
            <a:off x="1357825" y="2124250"/>
            <a:ext cx="6094800" cy="27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La escasez de componentes o aumentos de costos pueden impactar en sus precios competitivos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14" name="Google Shape;514;p50"/>
          <p:cNvSpPr txBox="1"/>
          <p:nvPr/>
        </p:nvSpPr>
        <p:spPr>
          <a:xfrm>
            <a:off x="1291675" y="385575"/>
            <a:ext cx="7342200" cy="17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220">
                <a:solidFill>
                  <a:schemeClr val="dk1"/>
                </a:solidFill>
                <a:latin typeface="Roboto Condensed SemiBold"/>
                <a:ea typeface="Roboto Condensed SemiBold"/>
                <a:cs typeface="Roboto Condensed SemiBold"/>
                <a:sym typeface="Roboto Condensed SemiBold"/>
              </a:rPr>
              <a:t>Fluctuaciones en suministros</a:t>
            </a:r>
            <a:endParaRPr sz="5220">
              <a:solidFill>
                <a:schemeClr val="dk1"/>
              </a:solidFill>
              <a:latin typeface="Roboto Condensed SemiBold"/>
              <a:ea typeface="Roboto Condensed SemiBold"/>
              <a:cs typeface="Roboto Condensed SemiBold"/>
              <a:sym typeface="Roboto Condensed SemiBold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1"/>
          <p:cNvSpPr txBox="1">
            <a:spLocks noGrp="1"/>
          </p:cNvSpPr>
          <p:nvPr>
            <p:ph type="title"/>
          </p:nvPr>
        </p:nvSpPr>
        <p:spPr>
          <a:xfrm>
            <a:off x="2271550" y="526350"/>
            <a:ext cx="57939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200">
                <a:latin typeface="Roboto Condensed SemiBold"/>
                <a:ea typeface="Roboto Condensed SemiBold"/>
                <a:cs typeface="Roboto Condensed SemiBold"/>
                <a:sym typeface="Roboto Condensed SemiBold"/>
              </a:rPr>
              <a:t>Estrategias</a:t>
            </a:r>
            <a:endParaRPr sz="5200">
              <a:latin typeface="Roboto Condensed SemiBold"/>
              <a:ea typeface="Roboto Condensed SemiBold"/>
              <a:cs typeface="Roboto Condensed SemiBold"/>
              <a:sym typeface="Roboto Condensed SemiBold"/>
            </a:endParaRPr>
          </a:p>
        </p:txBody>
      </p:sp>
      <p:sp>
        <p:nvSpPr>
          <p:cNvPr id="520" name="Google Shape;520;p51"/>
          <p:cNvSpPr/>
          <p:nvPr/>
        </p:nvSpPr>
        <p:spPr>
          <a:xfrm>
            <a:off x="-243450" y="-48225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51"/>
          <p:cNvSpPr/>
          <p:nvPr/>
        </p:nvSpPr>
        <p:spPr>
          <a:xfrm>
            <a:off x="-472025" y="-238725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51"/>
          <p:cNvSpPr/>
          <p:nvPr/>
        </p:nvSpPr>
        <p:spPr>
          <a:xfrm>
            <a:off x="-754825" y="-143475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51"/>
          <p:cNvSpPr/>
          <p:nvPr/>
        </p:nvSpPr>
        <p:spPr>
          <a:xfrm>
            <a:off x="-754825" y="-143475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51"/>
          <p:cNvSpPr/>
          <p:nvPr/>
        </p:nvSpPr>
        <p:spPr>
          <a:xfrm>
            <a:off x="-754825" y="-143475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51"/>
          <p:cNvSpPr/>
          <p:nvPr/>
        </p:nvSpPr>
        <p:spPr>
          <a:xfrm>
            <a:off x="-983400" y="-333975"/>
            <a:ext cx="1983450" cy="5647750"/>
          </a:xfrm>
          <a:prstGeom prst="flowChartInputOutput">
            <a:avLst/>
          </a:prstGeom>
          <a:solidFill>
            <a:srgbClr val="FF6900"/>
          </a:solidFill>
          <a:ln w="9525" cap="flat" cmpd="sng">
            <a:solidFill>
              <a:srgbClr val="FF69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2"/>
          <p:cNvSpPr/>
          <p:nvPr/>
        </p:nvSpPr>
        <p:spPr>
          <a:xfrm>
            <a:off x="-653550" y="-350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52"/>
          <p:cNvSpPr/>
          <p:nvPr/>
        </p:nvSpPr>
        <p:spPr>
          <a:xfrm>
            <a:off x="-882125" y="-22550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52"/>
          <p:cNvSpPr/>
          <p:nvPr/>
        </p:nvSpPr>
        <p:spPr>
          <a:xfrm>
            <a:off x="-1164925" y="-13025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52"/>
          <p:cNvSpPr/>
          <p:nvPr/>
        </p:nvSpPr>
        <p:spPr>
          <a:xfrm>
            <a:off x="-1164925" y="-13025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52"/>
          <p:cNvSpPr/>
          <p:nvPr/>
        </p:nvSpPr>
        <p:spPr>
          <a:xfrm>
            <a:off x="-1164925" y="-130250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52"/>
          <p:cNvSpPr/>
          <p:nvPr/>
        </p:nvSpPr>
        <p:spPr>
          <a:xfrm rot="10800000">
            <a:off x="7903925" y="-13025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52"/>
          <p:cNvSpPr/>
          <p:nvPr/>
        </p:nvSpPr>
        <p:spPr>
          <a:xfrm rot="-10800000">
            <a:off x="8132500" y="6025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52"/>
          <p:cNvSpPr/>
          <p:nvPr/>
        </p:nvSpPr>
        <p:spPr>
          <a:xfrm rot="10800000">
            <a:off x="8415300" y="-350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52"/>
          <p:cNvSpPr/>
          <p:nvPr/>
        </p:nvSpPr>
        <p:spPr>
          <a:xfrm rot="10800000">
            <a:off x="8415300" y="-350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52"/>
          <p:cNvSpPr/>
          <p:nvPr/>
        </p:nvSpPr>
        <p:spPr>
          <a:xfrm rot="10800000">
            <a:off x="8415300" y="-35000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52"/>
          <p:cNvSpPr txBox="1"/>
          <p:nvPr/>
        </p:nvSpPr>
        <p:spPr>
          <a:xfrm>
            <a:off x="1528325" y="2104275"/>
            <a:ext cx="7342200" cy="9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220">
                <a:solidFill>
                  <a:schemeClr val="dk1"/>
                </a:solidFill>
                <a:latin typeface="Roboto Condensed SemiBold"/>
                <a:ea typeface="Roboto Condensed SemiBold"/>
                <a:cs typeface="Roboto Condensed SemiBold"/>
                <a:sym typeface="Roboto Condensed SemiBold"/>
              </a:rPr>
              <a:t>Ofensivas</a:t>
            </a:r>
            <a:endParaRPr sz="5220">
              <a:solidFill>
                <a:schemeClr val="dk1"/>
              </a:solidFill>
              <a:latin typeface="Roboto Condensed SemiBold"/>
              <a:ea typeface="Roboto Condensed SemiBold"/>
              <a:cs typeface="Roboto Condensed SemiBold"/>
              <a:sym typeface="Roboto Condensed SemiBold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53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53"/>
          <p:cNvSpPr/>
          <p:nvPr/>
        </p:nvSpPr>
        <p:spPr>
          <a:xfrm rot="7913352">
            <a:off x="8227400" y="-261545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53"/>
          <p:cNvSpPr/>
          <p:nvPr/>
        </p:nvSpPr>
        <p:spPr>
          <a:xfrm rot="1308651">
            <a:off x="8664425" y="14551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53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53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53"/>
          <p:cNvSpPr/>
          <p:nvPr/>
        </p:nvSpPr>
        <p:spPr>
          <a:xfrm>
            <a:off x="-1416400" y="-190500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53"/>
          <p:cNvSpPr txBox="1">
            <a:spLocks noGrp="1"/>
          </p:cNvSpPr>
          <p:nvPr>
            <p:ph type="body" idx="1"/>
          </p:nvPr>
        </p:nvSpPr>
        <p:spPr>
          <a:xfrm>
            <a:off x="1357825" y="2124250"/>
            <a:ext cx="6094800" cy="27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Lanzar nuevos productos innovadores a un ritmo rápido, consiguiendo ventaja frente a sus competidores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52" name="Google Shape;552;p53"/>
          <p:cNvSpPr txBox="1"/>
          <p:nvPr/>
        </p:nvSpPr>
        <p:spPr>
          <a:xfrm>
            <a:off x="1291675" y="385575"/>
            <a:ext cx="7342200" cy="9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220">
                <a:solidFill>
                  <a:schemeClr val="dk1"/>
                </a:solidFill>
                <a:latin typeface="Roboto Condensed SemiBold"/>
                <a:ea typeface="Roboto Condensed SemiBold"/>
                <a:cs typeface="Roboto Condensed SemiBold"/>
                <a:sym typeface="Roboto Condensed SemiBold"/>
              </a:rPr>
              <a:t>Innovación de productos</a:t>
            </a:r>
            <a:endParaRPr sz="5220">
              <a:solidFill>
                <a:schemeClr val="dk1"/>
              </a:solidFill>
              <a:latin typeface="Roboto Condensed SemiBold"/>
              <a:ea typeface="Roboto Condensed SemiBold"/>
              <a:cs typeface="Roboto Condensed SemiBold"/>
              <a:sym typeface="Roboto Condensed SemiBold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4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54"/>
          <p:cNvSpPr/>
          <p:nvPr/>
        </p:nvSpPr>
        <p:spPr>
          <a:xfrm rot="7913352">
            <a:off x="8227400" y="-261545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54"/>
          <p:cNvSpPr/>
          <p:nvPr/>
        </p:nvSpPr>
        <p:spPr>
          <a:xfrm rot="1308651">
            <a:off x="8664425" y="14551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54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54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54"/>
          <p:cNvSpPr/>
          <p:nvPr/>
        </p:nvSpPr>
        <p:spPr>
          <a:xfrm>
            <a:off x="-1416400" y="-190500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54"/>
          <p:cNvSpPr txBox="1">
            <a:spLocks noGrp="1"/>
          </p:cNvSpPr>
          <p:nvPr>
            <p:ph type="body" idx="1"/>
          </p:nvPr>
        </p:nvSpPr>
        <p:spPr>
          <a:xfrm>
            <a:off x="1357825" y="2124250"/>
            <a:ext cx="6094800" cy="27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Entrar agresivamente a mercados emergentes o sectores tecnológicos emergentes donde no tiene presencia dominante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64" name="Google Shape;564;p54"/>
          <p:cNvSpPr txBox="1"/>
          <p:nvPr/>
        </p:nvSpPr>
        <p:spPr>
          <a:xfrm>
            <a:off x="1291675" y="385575"/>
            <a:ext cx="7342200" cy="17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220">
                <a:solidFill>
                  <a:schemeClr val="dk1"/>
                </a:solidFill>
                <a:latin typeface="Roboto Condensed SemiBold"/>
                <a:ea typeface="Roboto Condensed SemiBold"/>
                <a:cs typeface="Roboto Condensed SemiBold"/>
                <a:sym typeface="Roboto Condensed SemiBold"/>
              </a:rPr>
              <a:t>Expansión a nuevos mercados</a:t>
            </a:r>
            <a:endParaRPr sz="5220">
              <a:solidFill>
                <a:schemeClr val="dk1"/>
              </a:solidFill>
              <a:latin typeface="Roboto Condensed SemiBold"/>
              <a:ea typeface="Roboto Condensed SemiBold"/>
              <a:cs typeface="Roboto Condensed SemiBold"/>
              <a:sym typeface="Roboto Condensed SemiBold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55"/>
          <p:cNvSpPr/>
          <p:nvPr/>
        </p:nvSpPr>
        <p:spPr>
          <a:xfrm>
            <a:off x="-653550" y="-350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55"/>
          <p:cNvSpPr/>
          <p:nvPr/>
        </p:nvSpPr>
        <p:spPr>
          <a:xfrm>
            <a:off x="-882125" y="-22550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55"/>
          <p:cNvSpPr/>
          <p:nvPr/>
        </p:nvSpPr>
        <p:spPr>
          <a:xfrm>
            <a:off x="-1164925" y="-13025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55"/>
          <p:cNvSpPr/>
          <p:nvPr/>
        </p:nvSpPr>
        <p:spPr>
          <a:xfrm>
            <a:off x="-1164925" y="-13025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55"/>
          <p:cNvSpPr/>
          <p:nvPr/>
        </p:nvSpPr>
        <p:spPr>
          <a:xfrm>
            <a:off x="-1164925" y="-130250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55"/>
          <p:cNvSpPr/>
          <p:nvPr/>
        </p:nvSpPr>
        <p:spPr>
          <a:xfrm rot="10800000">
            <a:off x="7903925" y="-13025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55"/>
          <p:cNvSpPr/>
          <p:nvPr/>
        </p:nvSpPr>
        <p:spPr>
          <a:xfrm rot="-10800000">
            <a:off x="8132500" y="6025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55"/>
          <p:cNvSpPr/>
          <p:nvPr/>
        </p:nvSpPr>
        <p:spPr>
          <a:xfrm rot="10800000">
            <a:off x="8415300" y="-350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55"/>
          <p:cNvSpPr/>
          <p:nvPr/>
        </p:nvSpPr>
        <p:spPr>
          <a:xfrm rot="10800000">
            <a:off x="8415300" y="-350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55"/>
          <p:cNvSpPr/>
          <p:nvPr/>
        </p:nvSpPr>
        <p:spPr>
          <a:xfrm rot="10800000">
            <a:off x="8415300" y="-35000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55"/>
          <p:cNvSpPr txBox="1"/>
          <p:nvPr/>
        </p:nvSpPr>
        <p:spPr>
          <a:xfrm>
            <a:off x="1528325" y="2104275"/>
            <a:ext cx="7342200" cy="9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220">
                <a:solidFill>
                  <a:schemeClr val="dk1"/>
                </a:solidFill>
                <a:latin typeface="Roboto Condensed SemiBold"/>
                <a:ea typeface="Roboto Condensed SemiBold"/>
                <a:cs typeface="Roboto Condensed SemiBold"/>
                <a:sym typeface="Roboto Condensed SemiBold"/>
              </a:rPr>
              <a:t>Defensivas</a:t>
            </a:r>
            <a:endParaRPr sz="5220">
              <a:solidFill>
                <a:schemeClr val="dk1"/>
              </a:solidFill>
              <a:latin typeface="Roboto Condensed SemiBold"/>
              <a:ea typeface="Roboto Condensed SemiBold"/>
              <a:cs typeface="Roboto Condensed SemiBold"/>
              <a:sym typeface="Roboto Condensed SemiBold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56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56"/>
          <p:cNvSpPr/>
          <p:nvPr/>
        </p:nvSpPr>
        <p:spPr>
          <a:xfrm rot="7913352">
            <a:off x="8227400" y="-261545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56"/>
          <p:cNvSpPr/>
          <p:nvPr/>
        </p:nvSpPr>
        <p:spPr>
          <a:xfrm rot="1308651">
            <a:off x="8664425" y="14551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56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56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56"/>
          <p:cNvSpPr/>
          <p:nvPr/>
        </p:nvSpPr>
        <p:spPr>
          <a:xfrm>
            <a:off x="-1416400" y="-190500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56"/>
          <p:cNvSpPr txBox="1">
            <a:spLocks noGrp="1"/>
          </p:cNvSpPr>
          <p:nvPr>
            <p:ph type="body" idx="1"/>
          </p:nvPr>
        </p:nvSpPr>
        <p:spPr>
          <a:xfrm>
            <a:off x="1357825" y="2124250"/>
            <a:ext cx="6094800" cy="27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Mantener a sus clientes satisfechos y contentos mejorando sus productos basándose en opiniones e investigaciones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91" name="Google Shape;591;p56"/>
          <p:cNvSpPr txBox="1"/>
          <p:nvPr/>
        </p:nvSpPr>
        <p:spPr>
          <a:xfrm>
            <a:off x="1291675" y="385575"/>
            <a:ext cx="7342200" cy="17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220">
                <a:solidFill>
                  <a:schemeClr val="dk1"/>
                </a:solidFill>
                <a:latin typeface="Roboto Condensed SemiBold"/>
                <a:ea typeface="Roboto Condensed SemiBold"/>
                <a:cs typeface="Roboto Condensed SemiBold"/>
                <a:sym typeface="Roboto Condensed SemiBold"/>
              </a:rPr>
              <a:t>Mejora continua en productos</a:t>
            </a:r>
            <a:endParaRPr sz="5220">
              <a:solidFill>
                <a:schemeClr val="dk1"/>
              </a:solidFill>
              <a:latin typeface="Roboto Condensed SemiBold"/>
              <a:ea typeface="Roboto Condensed SemiBold"/>
              <a:cs typeface="Roboto Condensed SemiBold"/>
              <a:sym typeface="Roboto Condensed SemiBold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57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57"/>
          <p:cNvSpPr/>
          <p:nvPr/>
        </p:nvSpPr>
        <p:spPr>
          <a:xfrm rot="7913352">
            <a:off x="8227400" y="-261545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57"/>
          <p:cNvSpPr/>
          <p:nvPr/>
        </p:nvSpPr>
        <p:spPr>
          <a:xfrm rot="1308651">
            <a:off x="8664425" y="14551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57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p57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57"/>
          <p:cNvSpPr/>
          <p:nvPr/>
        </p:nvSpPr>
        <p:spPr>
          <a:xfrm>
            <a:off x="-1416400" y="-190500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57"/>
          <p:cNvSpPr txBox="1">
            <a:spLocks noGrp="1"/>
          </p:cNvSpPr>
          <p:nvPr>
            <p:ph type="body" idx="1"/>
          </p:nvPr>
        </p:nvSpPr>
        <p:spPr>
          <a:xfrm>
            <a:off x="1357825" y="2124250"/>
            <a:ext cx="6094800" cy="27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Diversificar su portafolio de productos para reducir dependencia de un solo mercado y competir en otros nuevos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03" name="Google Shape;603;p57"/>
          <p:cNvSpPr txBox="1"/>
          <p:nvPr/>
        </p:nvSpPr>
        <p:spPr>
          <a:xfrm>
            <a:off x="1291675" y="385575"/>
            <a:ext cx="7342200" cy="17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220">
                <a:solidFill>
                  <a:schemeClr val="dk1"/>
                </a:solidFill>
                <a:latin typeface="Roboto Condensed SemiBold"/>
                <a:ea typeface="Roboto Condensed SemiBold"/>
                <a:cs typeface="Roboto Condensed SemiBold"/>
                <a:sym typeface="Roboto Condensed SemiBold"/>
              </a:rPr>
              <a:t>Diversificación de productos</a:t>
            </a:r>
            <a:endParaRPr sz="5120">
              <a:solidFill>
                <a:schemeClr val="dk1"/>
              </a:solidFill>
              <a:latin typeface="Roboto Condensed SemiBold"/>
              <a:ea typeface="Roboto Condensed SemiBold"/>
              <a:cs typeface="Roboto Condensed SemiBold"/>
              <a:sym typeface="Roboto Condensed SemiBold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58"/>
          <p:cNvSpPr/>
          <p:nvPr/>
        </p:nvSpPr>
        <p:spPr>
          <a:xfrm>
            <a:off x="-653550" y="-350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58"/>
          <p:cNvSpPr/>
          <p:nvPr/>
        </p:nvSpPr>
        <p:spPr>
          <a:xfrm>
            <a:off x="-882125" y="-22550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58"/>
          <p:cNvSpPr/>
          <p:nvPr/>
        </p:nvSpPr>
        <p:spPr>
          <a:xfrm>
            <a:off x="-1164925" y="-13025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58"/>
          <p:cNvSpPr/>
          <p:nvPr/>
        </p:nvSpPr>
        <p:spPr>
          <a:xfrm>
            <a:off x="-1164925" y="-13025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58"/>
          <p:cNvSpPr/>
          <p:nvPr/>
        </p:nvSpPr>
        <p:spPr>
          <a:xfrm>
            <a:off x="-1164925" y="-130250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58"/>
          <p:cNvSpPr/>
          <p:nvPr/>
        </p:nvSpPr>
        <p:spPr>
          <a:xfrm rot="10800000">
            <a:off x="7903925" y="-13025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58"/>
          <p:cNvSpPr/>
          <p:nvPr/>
        </p:nvSpPr>
        <p:spPr>
          <a:xfrm rot="-10800000">
            <a:off x="8132500" y="6025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58"/>
          <p:cNvSpPr/>
          <p:nvPr/>
        </p:nvSpPr>
        <p:spPr>
          <a:xfrm rot="10800000">
            <a:off x="8415300" y="-350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6" name="Google Shape;616;p58"/>
          <p:cNvSpPr/>
          <p:nvPr/>
        </p:nvSpPr>
        <p:spPr>
          <a:xfrm rot="10800000">
            <a:off x="8415300" y="-350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58"/>
          <p:cNvSpPr/>
          <p:nvPr/>
        </p:nvSpPr>
        <p:spPr>
          <a:xfrm rot="10800000">
            <a:off x="8415300" y="-35000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58"/>
          <p:cNvSpPr txBox="1"/>
          <p:nvPr/>
        </p:nvSpPr>
        <p:spPr>
          <a:xfrm>
            <a:off x="1528325" y="2104275"/>
            <a:ext cx="7342200" cy="9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220">
                <a:solidFill>
                  <a:schemeClr val="dk1"/>
                </a:solidFill>
                <a:latin typeface="Roboto Condensed SemiBold"/>
                <a:ea typeface="Roboto Condensed SemiBold"/>
                <a:cs typeface="Roboto Condensed SemiBold"/>
                <a:sym typeface="Roboto Condensed SemiBold"/>
              </a:rPr>
              <a:t>Reorientación</a:t>
            </a:r>
            <a:endParaRPr sz="5220">
              <a:solidFill>
                <a:schemeClr val="dk1"/>
              </a:solidFill>
              <a:latin typeface="Roboto Condensed SemiBold"/>
              <a:ea typeface="Roboto Condensed SemiBold"/>
              <a:cs typeface="Roboto Condensed SemiBold"/>
              <a:sym typeface="Roboto Condensed SemiBold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59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p59"/>
          <p:cNvSpPr/>
          <p:nvPr/>
        </p:nvSpPr>
        <p:spPr>
          <a:xfrm rot="7913352">
            <a:off x="8227400" y="-261545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59"/>
          <p:cNvSpPr/>
          <p:nvPr/>
        </p:nvSpPr>
        <p:spPr>
          <a:xfrm rot="1308651">
            <a:off x="8664425" y="14551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59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59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59"/>
          <p:cNvSpPr/>
          <p:nvPr/>
        </p:nvSpPr>
        <p:spPr>
          <a:xfrm>
            <a:off x="-1416400" y="-190500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59"/>
          <p:cNvSpPr txBox="1">
            <a:spLocks noGrp="1"/>
          </p:cNvSpPr>
          <p:nvPr>
            <p:ph type="body" idx="1"/>
          </p:nvPr>
        </p:nvSpPr>
        <p:spPr>
          <a:xfrm>
            <a:off x="1357825" y="2124250"/>
            <a:ext cx="6094800" cy="27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Si un mercado deja de ser rentable o se satura, orientar la producción a otro más prometedor o competitivo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30" name="Google Shape;630;p59"/>
          <p:cNvSpPr txBox="1"/>
          <p:nvPr/>
        </p:nvSpPr>
        <p:spPr>
          <a:xfrm>
            <a:off x="1291675" y="385575"/>
            <a:ext cx="7342200" cy="17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220">
                <a:solidFill>
                  <a:schemeClr val="dk1"/>
                </a:solidFill>
                <a:latin typeface="Roboto Condensed SemiBold"/>
                <a:ea typeface="Roboto Condensed SemiBold"/>
                <a:cs typeface="Roboto Condensed SemiBold"/>
                <a:sym typeface="Roboto Condensed SemiBold"/>
              </a:rPr>
              <a:t>Cambio de enfoque o mercado</a:t>
            </a:r>
            <a:endParaRPr sz="5120">
              <a:solidFill>
                <a:schemeClr val="dk1"/>
              </a:solidFill>
              <a:latin typeface="Roboto Condensed SemiBold"/>
              <a:ea typeface="Roboto Condensed SemiBold"/>
              <a:cs typeface="Roboto Condensed SemiBold"/>
              <a:sym typeface="Roboto Condensed SemiBold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60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60"/>
          <p:cNvSpPr/>
          <p:nvPr/>
        </p:nvSpPr>
        <p:spPr>
          <a:xfrm rot="7913352">
            <a:off x="8227400" y="-261545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60"/>
          <p:cNvSpPr/>
          <p:nvPr/>
        </p:nvSpPr>
        <p:spPr>
          <a:xfrm rot="1308651">
            <a:off x="8664425" y="14551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60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60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60"/>
          <p:cNvSpPr/>
          <p:nvPr/>
        </p:nvSpPr>
        <p:spPr>
          <a:xfrm>
            <a:off x="-1416400" y="-190500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60"/>
          <p:cNvSpPr txBox="1">
            <a:spLocks noGrp="1"/>
          </p:cNvSpPr>
          <p:nvPr>
            <p:ph type="body" idx="1"/>
          </p:nvPr>
        </p:nvSpPr>
        <p:spPr>
          <a:xfrm>
            <a:off x="1357825" y="2124250"/>
            <a:ext cx="6094800" cy="27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Actualizar la imagen de marca, atraer nuevos segmentos de mercado o cambiar la percepción pública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42" name="Google Shape;642;p60"/>
          <p:cNvSpPr txBox="1"/>
          <p:nvPr/>
        </p:nvSpPr>
        <p:spPr>
          <a:xfrm>
            <a:off x="1291675" y="385575"/>
            <a:ext cx="7342200" cy="9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220">
                <a:solidFill>
                  <a:schemeClr val="dk1"/>
                </a:solidFill>
                <a:latin typeface="Roboto Condensed SemiBold"/>
                <a:ea typeface="Roboto Condensed SemiBold"/>
                <a:cs typeface="Roboto Condensed SemiBold"/>
                <a:sym typeface="Roboto Condensed SemiBold"/>
              </a:rPr>
              <a:t>Rebranding</a:t>
            </a:r>
            <a:endParaRPr sz="5120">
              <a:solidFill>
                <a:schemeClr val="dk1"/>
              </a:solidFill>
              <a:latin typeface="Roboto Condensed SemiBold"/>
              <a:ea typeface="Roboto Condensed SemiBold"/>
              <a:cs typeface="Roboto Condensed SemiBold"/>
              <a:sym typeface="Roboto Condensed SemiBold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61"/>
          <p:cNvSpPr/>
          <p:nvPr/>
        </p:nvSpPr>
        <p:spPr>
          <a:xfrm>
            <a:off x="-653550" y="-350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61"/>
          <p:cNvSpPr/>
          <p:nvPr/>
        </p:nvSpPr>
        <p:spPr>
          <a:xfrm>
            <a:off x="-882125" y="-22550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61"/>
          <p:cNvSpPr/>
          <p:nvPr/>
        </p:nvSpPr>
        <p:spPr>
          <a:xfrm>
            <a:off x="-1164925" y="-13025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61"/>
          <p:cNvSpPr/>
          <p:nvPr/>
        </p:nvSpPr>
        <p:spPr>
          <a:xfrm>
            <a:off x="-1164925" y="-13025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61"/>
          <p:cNvSpPr/>
          <p:nvPr/>
        </p:nvSpPr>
        <p:spPr>
          <a:xfrm>
            <a:off x="-1164925" y="-130250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61"/>
          <p:cNvSpPr/>
          <p:nvPr/>
        </p:nvSpPr>
        <p:spPr>
          <a:xfrm rot="10800000">
            <a:off x="7903925" y="-13025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61"/>
          <p:cNvSpPr/>
          <p:nvPr/>
        </p:nvSpPr>
        <p:spPr>
          <a:xfrm rot="-10800000">
            <a:off x="8132500" y="6025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p61"/>
          <p:cNvSpPr/>
          <p:nvPr/>
        </p:nvSpPr>
        <p:spPr>
          <a:xfrm rot="10800000">
            <a:off x="8415300" y="-350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61"/>
          <p:cNvSpPr/>
          <p:nvPr/>
        </p:nvSpPr>
        <p:spPr>
          <a:xfrm rot="10800000">
            <a:off x="8415300" y="-350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61"/>
          <p:cNvSpPr/>
          <p:nvPr/>
        </p:nvSpPr>
        <p:spPr>
          <a:xfrm rot="10800000">
            <a:off x="8415300" y="-35000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61"/>
          <p:cNvSpPr txBox="1"/>
          <p:nvPr/>
        </p:nvSpPr>
        <p:spPr>
          <a:xfrm>
            <a:off x="1528325" y="2104275"/>
            <a:ext cx="7342200" cy="9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220">
                <a:solidFill>
                  <a:schemeClr val="dk1"/>
                </a:solidFill>
                <a:latin typeface="Roboto Condensed SemiBold"/>
                <a:ea typeface="Roboto Condensed SemiBold"/>
                <a:cs typeface="Roboto Condensed SemiBold"/>
                <a:sym typeface="Roboto Condensed SemiBold"/>
              </a:rPr>
              <a:t>Supervivencia</a:t>
            </a:r>
            <a:endParaRPr sz="5220">
              <a:solidFill>
                <a:schemeClr val="dk1"/>
              </a:solidFill>
              <a:latin typeface="Roboto Condensed SemiBold"/>
              <a:ea typeface="Roboto Condensed SemiBold"/>
              <a:cs typeface="Roboto Condensed SemiBold"/>
              <a:sym typeface="Roboto Condensed SemiBold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62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" name="Google Shape;663;p62"/>
          <p:cNvSpPr/>
          <p:nvPr/>
        </p:nvSpPr>
        <p:spPr>
          <a:xfrm rot="7913352">
            <a:off x="8227400" y="-261545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62"/>
          <p:cNvSpPr/>
          <p:nvPr/>
        </p:nvSpPr>
        <p:spPr>
          <a:xfrm rot="1308651">
            <a:off x="8664425" y="14551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62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" name="Google Shape;666;p62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p62"/>
          <p:cNvSpPr/>
          <p:nvPr/>
        </p:nvSpPr>
        <p:spPr>
          <a:xfrm>
            <a:off x="-1416400" y="-190500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" name="Google Shape;668;p62"/>
          <p:cNvSpPr txBox="1">
            <a:spLocks noGrp="1"/>
          </p:cNvSpPr>
          <p:nvPr>
            <p:ph type="body" idx="1"/>
          </p:nvPr>
        </p:nvSpPr>
        <p:spPr>
          <a:xfrm>
            <a:off x="1357825" y="2124250"/>
            <a:ext cx="6094800" cy="27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Mantener únicamente las operaciones esenciales.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Minimizar gastos no esenciales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Cancelar productos poco rentables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69" name="Google Shape;669;p62"/>
          <p:cNvSpPr txBox="1"/>
          <p:nvPr/>
        </p:nvSpPr>
        <p:spPr>
          <a:xfrm>
            <a:off x="1291675" y="385575"/>
            <a:ext cx="7342200" cy="9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220">
                <a:solidFill>
                  <a:schemeClr val="dk1"/>
                </a:solidFill>
                <a:latin typeface="Roboto Condensed SemiBold"/>
                <a:ea typeface="Roboto Condensed SemiBold"/>
                <a:cs typeface="Roboto Condensed SemiBold"/>
                <a:sym typeface="Roboto Condensed SemiBold"/>
              </a:rPr>
              <a:t>Reducción de costos</a:t>
            </a:r>
            <a:endParaRPr sz="5120">
              <a:solidFill>
                <a:schemeClr val="dk1"/>
              </a:solidFill>
              <a:latin typeface="Roboto Condensed SemiBold"/>
              <a:ea typeface="Roboto Condensed SemiBold"/>
              <a:cs typeface="Roboto Condensed SemiBold"/>
              <a:sym typeface="Roboto Condensed SemiBold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63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63"/>
          <p:cNvSpPr/>
          <p:nvPr/>
        </p:nvSpPr>
        <p:spPr>
          <a:xfrm rot="7913352">
            <a:off x="8227400" y="-261545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63"/>
          <p:cNvSpPr/>
          <p:nvPr/>
        </p:nvSpPr>
        <p:spPr>
          <a:xfrm rot="1308651">
            <a:off x="8664425" y="145510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7" name="Google Shape;677;p63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63"/>
          <p:cNvSpPr/>
          <p:nvPr/>
        </p:nvSpPr>
        <p:spPr>
          <a:xfrm>
            <a:off x="-1187825" y="0"/>
            <a:ext cx="1983450" cy="5647750"/>
          </a:xfrm>
          <a:prstGeom prst="flowChartInputOutput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63"/>
          <p:cNvSpPr/>
          <p:nvPr/>
        </p:nvSpPr>
        <p:spPr>
          <a:xfrm>
            <a:off x="-1416400" y="-190500"/>
            <a:ext cx="1983450" cy="5647750"/>
          </a:xfrm>
          <a:prstGeom prst="flowChartInputOutput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63"/>
          <p:cNvSpPr txBox="1">
            <a:spLocks noGrp="1"/>
          </p:cNvSpPr>
          <p:nvPr>
            <p:ph type="body" idx="1"/>
          </p:nvPr>
        </p:nvSpPr>
        <p:spPr>
          <a:xfrm>
            <a:off x="1357825" y="2124250"/>
            <a:ext cx="6094800" cy="27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6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Vender activos o divisiones no esenciales, generar liquidez y concentrarse en áreas rentables</a:t>
            </a: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36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81" name="Google Shape;681;p63"/>
          <p:cNvSpPr txBox="1"/>
          <p:nvPr/>
        </p:nvSpPr>
        <p:spPr>
          <a:xfrm>
            <a:off x="1291675" y="385575"/>
            <a:ext cx="7342200" cy="17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220">
                <a:solidFill>
                  <a:schemeClr val="dk1"/>
                </a:solidFill>
                <a:latin typeface="Roboto Condensed SemiBold"/>
                <a:ea typeface="Roboto Condensed SemiBold"/>
                <a:cs typeface="Roboto Condensed SemiBold"/>
                <a:sym typeface="Roboto Condensed SemiBold"/>
              </a:rPr>
              <a:t>Desinversión en Activos Financieros</a:t>
            </a:r>
            <a:endParaRPr sz="5120">
              <a:solidFill>
                <a:schemeClr val="dk1"/>
              </a:solidFill>
              <a:latin typeface="Roboto Condensed SemiBold"/>
              <a:ea typeface="Roboto Condensed SemiBold"/>
              <a:cs typeface="Roboto Condensed SemiBold"/>
              <a:sym typeface="Roboto Condensed SemiBold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F0"/>
        </a:solidFill>
        <a:effectLst/>
      </p:bgPr>
    </p:bg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64"/>
          <p:cNvSpPr/>
          <p:nvPr/>
        </p:nvSpPr>
        <p:spPr>
          <a:xfrm rot="-5400000">
            <a:off x="1650406" y="-197281"/>
            <a:ext cx="5150988" cy="5538050"/>
          </a:xfrm>
          <a:prstGeom prst="flowChartOffpageConnector">
            <a:avLst/>
          </a:prstGeom>
          <a:solidFill>
            <a:srgbClr val="FFDAC0"/>
          </a:solidFill>
          <a:ln w="9525" cap="flat" cmpd="sng">
            <a:solidFill>
              <a:srgbClr val="FFDAC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7" name="Google Shape;687;p64"/>
          <p:cNvSpPr/>
          <p:nvPr/>
        </p:nvSpPr>
        <p:spPr>
          <a:xfrm rot="-5400000">
            <a:off x="1180409" y="-197281"/>
            <a:ext cx="5150988" cy="5538050"/>
          </a:xfrm>
          <a:prstGeom prst="flowChartOffpageConnector">
            <a:avLst/>
          </a:prstGeom>
          <a:solidFill>
            <a:srgbClr val="FFBA8A"/>
          </a:solidFill>
          <a:ln w="9525" cap="flat" cmpd="sng">
            <a:solidFill>
              <a:srgbClr val="FFBA8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64"/>
          <p:cNvSpPr/>
          <p:nvPr/>
        </p:nvSpPr>
        <p:spPr>
          <a:xfrm rot="-5400000">
            <a:off x="657938" y="-197244"/>
            <a:ext cx="5150988" cy="5538050"/>
          </a:xfrm>
          <a:prstGeom prst="flowChartOffpageConnector">
            <a:avLst/>
          </a:prstGeom>
          <a:solidFill>
            <a:srgbClr val="FF9850"/>
          </a:solidFill>
          <a:ln w="9525" cap="flat" cmpd="sng">
            <a:solidFill>
              <a:srgbClr val="FF985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64"/>
          <p:cNvSpPr/>
          <p:nvPr/>
        </p:nvSpPr>
        <p:spPr>
          <a:xfrm rot="-5400000">
            <a:off x="118781" y="-197244"/>
            <a:ext cx="5150988" cy="5538050"/>
          </a:xfrm>
          <a:prstGeom prst="flowChartOffpageConnector">
            <a:avLst/>
          </a:prstGeom>
          <a:solidFill>
            <a:srgbClr val="FF6900"/>
          </a:solidFill>
          <a:ln w="9525" cap="flat" cmpd="sng">
            <a:solidFill>
              <a:srgbClr val="FF69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90" name="Google Shape;690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00550" y="307563"/>
            <a:ext cx="5967524" cy="335672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691" name="Google Shape;691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750" y="2230500"/>
            <a:ext cx="3979850" cy="2487400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64"/>
          <p:cNvSpPr txBox="1"/>
          <p:nvPr/>
        </p:nvSpPr>
        <p:spPr>
          <a:xfrm>
            <a:off x="7625975" y="4121575"/>
            <a:ext cx="1402800" cy="8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AR" sz="1200" b="1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03D5C72D093964181694690DF068BE6" ma:contentTypeVersion="4" ma:contentTypeDescription="Crear nuevo documento." ma:contentTypeScope="" ma:versionID="596deb760b3cffd8eb6c1d372189c667">
  <xsd:schema xmlns:xsd="http://www.w3.org/2001/XMLSchema" xmlns:xs="http://www.w3.org/2001/XMLSchema" xmlns:p="http://schemas.microsoft.com/office/2006/metadata/properties" xmlns:ns2="e8b09cbd-3218-4b77-8fb1-a7e193e4e042" targetNamespace="http://schemas.microsoft.com/office/2006/metadata/properties" ma:root="true" ma:fieldsID="a87ee534c8417bed864fab1a1ff197e3" ns2:_="">
    <xsd:import namespace="e8b09cbd-3218-4b77-8fb1-a7e193e4e04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b09cbd-3218-4b77-8fb1-a7e193e4e0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9873624-5E49-44C3-8896-B82ADCE9776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8b09cbd-3218-4b77-8fb1-a7e193e4e04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25EEDBC-07BD-43D8-B8DE-71FC75933A3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8F1C496-3173-4C9C-A421-AB58627BA05C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745</Words>
  <Application>Microsoft Office PowerPoint</Application>
  <PresentationFormat>Presentación en pantalla (16:9)</PresentationFormat>
  <Paragraphs>110</Paragraphs>
  <Slides>52</Slides>
  <Notes>52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52</vt:i4>
      </vt:variant>
    </vt:vector>
  </HeadingPairs>
  <TitlesOfParts>
    <vt:vector size="56" baseType="lpstr">
      <vt:lpstr>Roboto Condensed</vt:lpstr>
      <vt:lpstr>Roboto Condensed SemiBold</vt:lpstr>
      <vt:lpstr>Arial</vt:lpstr>
      <vt:lpstr>Simple Light</vt:lpstr>
      <vt:lpstr>Análisis de contexto</vt:lpstr>
      <vt:lpstr>Negocio</vt:lpstr>
      <vt:lpstr>Entorno</vt:lpstr>
      <vt:lpstr>Razón de ser</vt:lpstr>
      <vt:lpstr>Objetivos</vt:lpstr>
      <vt:lpstr>Contextos externos de Xiaomi</vt:lpstr>
      <vt:lpstr>Presentación de PowerPoint</vt:lpstr>
      <vt:lpstr>Contexto político</vt:lpstr>
      <vt:lpstr>Contexto económico</vt:lpstr>
      <vt:lpstr>Contexto social</vt:lpstr>
      <vt:lpstr>Contexto tecnológico</vt:lpstr>
      <vt:lpstr>Contexto ambiental</vt:lpstr>
      <vt:lpstr>Contexto legal</vt:lpstr>
      <vt:lpstr>Contextos internos de Xiaomi</vt:lpstr>
      <vt:lpstr>Presentación de PowerPoint</vt:lpstr>
      <vt:lpstr>Recursos Humanos</vt:lpstr>
      <vt:lpstr>Estructura Organizacional</vt:lpstr>
      <vt:lpstr>Recursos Financieros</vt:lpstr>
      <vt:lpstr>Capacidades tecnológicas</vt:lpstr>
      <vt:lpstr>Innovación de Productos</vt:lpstr>
      <vt:lpstr>Relaciones con proveedores y socios  </vt:lpstr>
      <vt:lpstr>Análisis FODA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Estrategias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ALONSO LEANDRO MATIAS</cp:lastModifiedBy>
  <cp:revision>1</cp:revision>
  <dcterms:modified xsi:type="dcterms:W3CDTF">2025-11-04T23:40:57Z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0x010100003D5C72D093964181694690DF068BE6</vt:lpwstr>
  </property>
</Properties>
</file>